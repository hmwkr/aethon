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LINE Seed Sans TH Regular"/>
      <p:regular r:id="rId25"/>
    </p:embeddedFont>
    <p:embeddedFont>
      <p:font typeface="LINE Seed Sans TH Bold"/>
      <p:bold r:id="rId26"/>
    </p:embeddedFont>
    <p:embeddedFont>
      <p:font typeface="Pretendard Light"/>
      <p:regular r:id="rId27"/>
    </p:embeddedFont>
    <p:embeddedFont>
      <p:font typeface="Pretendard Medium"/>
      <p:bold r:id="rId28"/>
    </p:embeddedFont>
    <p:embeddedFont>
      <p:font typeface="Pretendard Regular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1.fntdata" Type="http://schemas.openxmlformats.org/officeDocument/2006/relationships/font"/><Relationship Id="rId26" Target="fonts/font2.fntdata" Type="http://schemas.openxmlformats.org/officeDocument/2006/relationships/font"/><Relationship Id="rId27" Target="fonts/font3.fntdata" Type="http://schemas.openxmlformats.org/officeDocument/2006/relationships/font"/><Relationship Id="rId28" Target="fonts/font4.fntdata" Type="http://schemas.openxmlformats.org/officeDocument/2006/relationships/font"/><Relationship Id="rId29" Target="fonts/font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4.svg" Type="http://schemas.openxmlformats.org/officeDocument/2006/relationships/image"/><Relationship Id="rId15" Target="../media/image15.png" Type="http://schemas.openxmlformats.org/officeDocument/2006/relationships/image"/><Relationship Id="rId16" Target="../media/image16.svg" Type="http://schemas.openxmlformats.org/officeDocument/2006/relationships/image"/><Relationship Id="rId17" Target="../media/image17.png" Type="http://schemas.openxmlformats.org/officeDocument/2006/relationships/image"/><Relationship Id="rId18" Target="../media/image18.png" Type="http://schemas.openxmlformats.org/officeDocument/2006/relationships/image"/><Relationship Id="rId19" Target="../media/image19.png" Type="http://schemas.openxmlformats.org/officeDocument/2006/relationships/image"/><Relationship Id="rId2" Target="../media/image2.png" Type="http://schemas.openxmlformats.org/officeDocument/2006/relationships/image"/><Relationship Id="rId20" Target="../media/image20.svg" Type="http://schemas.openxmlformats.org/officeDocument/2006/relationships/image"/><Relationship Id="rId21" Target="../media/image21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4.svg" Type="http://schemas.openxmlformats.org/officeDocument/2006/relationships/image"/><Relationship Id="rId15" Target="../media/image24.png" Type="http://schemas.openxmlformats.org/officeDocument/2006/relationships/image"/><Relationship Id="rId16" Target="../media/image16.svg" Type="http://schemas.openxmlformats.org/officeDocument/2006/relationships/image"/><Relationship Id="rId17" Target="../media/image17.png" Type="http://schemas.openxmlformats.org/officeDocument/2006/relationships/image"/><Relationship Id="rId18" Target="../media/image18.png" Type="http://schemas.openxmlformats.org/officeDocument/2006/relationships/image"/><Relationship Id="rId19" Target="../media/image20.svg" Type="http://schemas.openxmlformats.org/officeDocument/2006/relationships/image"/><Relationship Id="rId2" Target="../media/image22.png" Type="http://schemas.openxmlformats.org/officeDocument/2006/relationships/image"/><Relationship Id="rId20" Target="../media/image21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23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svg" Type="http://schemas.openxmlformats.org/officeDocument/2006/relationships/image"/><Relationship Id="rId16" Target="../media/image34.png" Type="http://schemas.openxmlformats.org/officeDocument/2006/relationships/image"/><Relationship Id="rId17" Target="../media/image16.svg" Type="http://schemas.openxmlformats.org/officeDocument/2006/relationships/image"/><Relationship Id="rId18" Target="../media/image35.png" Type="http://schemas.openxmlformats.org/officeDocument/2006/relationships/image"/><Relationship Id="rId19" Target="../media/image36.svg" Type="http://schemas.openxmlformats.org/officeDocument/2006/relationships/image"/><Relationship Id="rId2" Target="../media/image25.png" Type="http://schemas.openxmlformats.org/officeDocument/2006/relationships/image"/><Relationship Id="rId20" Target="../media/image8.png" Type="http://schemas.openxmlformats.org/officeDocument/2006/relationships/image"/><Relationship Id="rId21" Target="../media/image9.svg" Type="http://schemas.openxmlformats.org/officeDocument/2006/relationships/image"/><Relationship Id="rId22" Target="../media/image37.png" Type="http://schemas.openxmlformats.org/officeDocument/2006/relationships/image"/><Relationship Id="rId23" Target="../media/image38.svg" Type="http://schemas.openxmlformats.org/officeDocument/2006/relationships/image"/><Relationship Id="rId24" Target="../media/image39.png" Type="http://schemas.openxmlformats.org/officeDocument/2006/relationships/image"/><Relationship Id="rId25" Target="../media/image40.svg" Type="http://schemas.openxmlformats.org/officeDocument/2006/relationships/image"/><Relationship Id="rId26" Target="../media/image41.png" Type="http://schemas.openxmlformats.org/officeDocument/2006/relationships/image"/><Relationship Id="rId27" Target="../media/image42.svg" Type="http://schemas.openxmlformats.org/officeDocument/2006/relationships/image"/><Relationship Id="rId28" Target="../media/image43.svg" Type="http://schemas.openxmlformats.org/officeDocument/2006/relationships/image"/><Relationship Id="rId29" Target="../media/image44.png" Type="http://schemas.openxmlformats.org/officeDocument/2006/relationships/image"/><Relationship Id="rId3" Target="../media/image26.svg" Type="http://schemas.openxmlformats.org/officeDocument/2006/relationships/image"/><Relationship Id="rId30" Target="../media/image45.svg" Type="http://schemas.openxmlformats.org/officeDocument/2006/relationships/image"/><Relationship Id="rId31" Target="../media/image46.png" Type="http://schemas.openxmlformats.org/officeDocument/2006/relationships/image"/><Relationship Id="rId32" Target="../media/image47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svg" Type="http://schemas.openxmlformats.org/officeDocument/2006/relationships/image"/><Relationship Id="rId13" Target="../media/image50.png" Type="http://schemas.openxmlformats.org/officeDocument/2006/relationships/image"/><Relationship Id="rId2" Target="../media/image48.png" Type="http://schemas.openxmlformats.org/officeDocument/2006/relationships/image"/><Relationship Id="rId3" Target="../media/image16.svg" Type="http://schemas.openxmlformats.org/officeDocument/2006/relationships/image"/><Relationship Id="rId4" Target="../media/image49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4.svg" Type="http://schemas.openxmlformats.org/officeDocument/2006/relationships/image"/><Relationship Id="rId15" Target="../media/image54.png" Type="http://schemas.openxmlformats.org/officeDocument/2006/relationships/image"/><Relationship Id="rId16" Target="../media/image16.svg" Type="http://schemas.openxmlformats.org/officeDocument/2006/relationships/image"/><Relationship Id="rId17" Target="../media/image17.png" Type="http://schemas.openxmlformats.org/officeDocument/2006/relationships/image"/><Relationship Id="rId18" Target="../media/image18.png" Type="http://schemas.openxmlformats.org/officeDocument/2006/relationships/image"/><Relationship Id="rId19" Target="../media/image55.png" Type="http://schemas.openxmlformats.org/officeDocument/2006/relationships/image"/><Relationship Id="rId2" Target="../media/image51.png" Type="http://schemas.openxmlformats.org/officeDocument/2006/relationships/image"/><Relationship Id="rId20" Target="../media/image20.svg" Type="http://schemas.openxmlformats.org/officeDocument/2006/relationships/image"/><Relationship Id="rId21" Target="../media/image21.png" Type="http://schemas.openxmlformats.org/officeDocument/2006/relationships/image"/><Relationship Id="rId3" Target="../media/image3.svg" Type="http://schemas.openxmlformats.org/officeDocument/2006/relationships/image"/><Relationship Id="rId4" Target="../media/image52.png" Type="http://schemas.openxmlformats.org/officeDocument/2006/relationships/image"/><Relationship Id="rId5" Target="../media/image5.svg" Type="http://schemas.openxmlformats.org/officeDocument/2006/relationships/image"/><Relationship Id="rId6" Target="../media/image53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14.svg" Type="http://schemas.openxmlformats.org/officeDocument/2006/relationships/image"/><Relationship Id="rId14" Target="../media/image57.png" Type="http://schemas.openxmlformats.org/officeDocument/2006/relationships/image"/><Relationship Id="rId15" Target="../media/image16.svg" Type="http://schemas.openxmlformats.org/officeDocument/2006/relationships/image"/><Relationship Id="rId16" Target="../media/image17.png" Type="http://schemas.openxmlformats.org/officeDocument/2006/relationships/image"/><Relationship Id="rId17" Target="../media/image18.png" Type="http://schemas.openxmlformats.org/officeDocument/2006/relationships/image"/><Relationship Id="rId18" Target="../media/image55.png" Type="http://schemas.openxmlformats.org/officeDocument/2006/relationships/image"/><Relationship Id="rId19" Target="../media/image20.svg" Type="http://schemas.openxmlformats.org/officeDocument/2006/relationships/image"/><Relationship Id="rId2" Target="../media/image4.png" Type="http://schemas.openxmlformats.org/officeDocument/2006/relationships/image"/><Relationship Id="rId20" Target="../media/image21.png" Type="http://schemas.openxmlformats.org/officeDocument/2006/relationships/image"/><Relationship Id="rId3" Target="../media/image3.svg" Type="http://schemas.openxmlformats.org/officeDocument/2006/relationships/image"/><Relationship Id="rId4" Target="../media/image5.svg" Type="http://schemas.openxmlformats.org/officeDocument/2006/relationships/image"/><Relationship Id="rId5" Target="../media/image5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4.svg" Type="http://schemas.openxmlformats.org/officeDocument/2006/relationships/image"/><Relationship Id="rId15" Target="../media/image61.png" Type="http://schemas.openxmlformats.org/officeDocument/2006/relationships/image"/><Relationship Id="rId16" Target="../media/image16.svg" Type="http://schemas.openxmlformats.org/officeDocument/2006/relationships/image"/><Relationship Id="rId17" Target="../media/image62.png" Type="http://schemas.openxmlformats.org/officeDocument/2006/relationships/image"/><Relationship Id="rId18" Target="../media/image63.svg" Type="http://schemas.openxmlformats.org/officeDocument/2006/relationships/image"/><Relationship Id="rId19" Target="../media/image64.png" Type="http://schemas.openxmlformats.org/officeDocument/2006/relationships/image"/><Relationship Id="rId2" Target="../media/image58.png" Type="http://schemas.openxmlformats.org/officeDocument/2006/relationships/image"/><Relationship Id="rId20" Target="../media/image65.svg" Type="http://schemas.openxmlformats.org/officeDocument/2006/relationships/image"/><Relationship Id="rId21" Target="../media/image66.png" Type="http://schemas.openxmlformats.org/officeDocument/2006/relationships/image"/><Relationship Id="rId22" Target="../media/image67.svg" Type="http://schemas.openxmlformats.org/officeDocument/2006/relationships/image"/><Relationship Id="rId23" Target="../media/image68.png" Type="http://schemas.openxmlformats.org/officeDocument/2006/relationships/image"/><Relationship Id="rId24" Target="../media/image69.svg" Type="http://schemas.openxmlformats.org/officeDocument/2006/relationships/image"/><Relationship Id="rId25" Target="../media/image70.png" Type="http://schemas.openxmlformats.org/officeDocument/2006/relationships/image"/><Relationship Id="rId26" Target="../media/image71.svg" Type="http://schemas.openxmlformats.org/officeDocument/2006/relationships/image"/><Relationship Id="rId27" Target="../media/image72.png" Type="http://schemas.openxmlformats.org/officeDocument/2006/relationships/image"/><Relationship Id="rId28" Target="../media/image73.svg" Type="http://schemas.openxmlformats.org/officeDocument/2006/relationships/image"/><Relationship Id="rId3" Target="../media/image59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60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2" Target="../media/image74.png" Type="http://schemas.openxmlformats.org/officeDocument/2006/relationships/image"/><Relationship Id="rId3" Target="../media/image16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sv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2.png" Type="http://schemas.openxmlformats.org/officeDocument/2006/relationships/image"/><Relationship Id="rId11" Target="../media/image36.svg" Type="http://schemas.openxmlformats.org/officeDocument/2006/relationships/image"/><Relationship Id="rId12" Target="../media/image8.png" Type="http://schemas.openxmlformats.org/officeDocument/2006/relationships/image"/><Relationship Id="rId13" Target="../media/image9.svg" Type="http://schemas.openxmlformats.org/officeDocument/2006/relationships/image"/><Relationship Id="rId14" Target="../media/image83.png" Type="http://schemas.openxmlformats.org/officeDocument/2006/relationships/image"/><Relationship Id="rId15" Target="../media/image84.svg" Type="http://schemas.openxmlformats.org/officeDocument/2006/relationships/image"/><Relationship Id="rId16" Target="../media/image10.png" Type="http://schemas.openxmlformats.org/officeDocument/2006/relationships/image"/><Relationship Id="rId17" Target="../media/image11.svg" Type="http://schemas.openxmlformats.org/officeDocument/2006/relationships/image"/><Relationship Id="rId18" Target="../media/image12.png" Type="http://schemas.openxmlformats.org/officeDocument/2006/relationships/image"/><Relationship Id="rId19" Target="../media/image13.svg" Type="http://schemas.openxmlformats.org/officeDocument/2006/relationships/image"/><Relationship Id="rId2" Target="../media/image75.png" Type="http://schemas.openxmlformats.org/officeDocument/2006/relationships/image"/><Relationship Id="rId20" Target="../media/image14.svg" Type="http://schemas.openxmlformats.org/officeDocument/2006/relationships/image"/><Relationship Id="rId21" Target="../media/image85.png" Type="http://schemas.openxmlformats.org/officeDocument/2006/relationships/image"/><Relationship Id="rId22" Target="../media/image86.svg" Type="http://schemas.openxmlformats.org/officeDocument/2006/relationships/image"/><Relationship Id="rId23" Target="../media/image87.png" Type="http://schemas.openxmlformats.org/officeDocument/2006/relationships/image"/><Relationship Id="rId24" Target="../media/image88.svg" Type="http://schemas.openxmlformats.org/officeDocument/2006/relationships/image"/><Relationship Id="rId25" Target="../media/image89.png" Type="http://schemas.openxmlformats.org/officeDocument/2006/relationships/image"/><Relationship Id="rId26" Target="../media/image90.svg" Type="http://schemas.openxmlformats.org/officeDocument/2006/relationships/image"/><Relationship Id="rId27" Target="../media/image91.png" Type="http://schemas.openxmlformats.org/officeDocument/2006/relationships/image"/><Relationship Id="rId28" Target="../media/image92.png" Type="http://schemas.openxmlformats.org/officeDocument/2006/relationships/image"/><Relationship Id="rId29" Target="../media/image93.svg" Type="http://schemas.openxmlformats.org/officeDocument/2006/relationships/image"/><Relationship Id="rId3" Target="../media/image76.svg" Type="http://schemas.openxmlformats.org/officeDocument/2006/relationships/image"/><Relationship Id="rId30" Target="../media/image94.png" Type="http://schemas.openxmlformats.org/officeDocument/2006/relationships/image"/><Relationship Id="rId31" Target="../media/image95.svg" Type="http://schemas.openxmlformats.org/officeDocument/2006/relationships/image"/><Relationship Id="rId32" Target="../media/image96.png" Type="http://schemas.openxmlformats.org/officeDocument/2006/relationships/image"/><Relationship Id="rId33" Target="../media/image97.png" Type="http://schemas.openxmlformats.org/officeDocument/2006/relationships/image"/><Relationship Id="rId34" Target="../media/image98.svg" Type="http://schemas.openxmlformats.org/officeDocument/2006/relationships/image"/><Relationship Id="rId4" Target="../media/image77.png" Type="http://schemas.openxmlformats.org/officeDocument/2006/relationships/image"/><Relationship Id="rId5" Target="../media/image78.svg" Type="http://schemas.openxmlformats.org/officeDocument/2006/relationships/image"/><Relationship Id="rId6" Target="../media/image79.png" Type="http://schemas.openxmlformats.org/officeDocument/2006/relationships/image"/><Relationship Id="rId7" Target="../media/image16.svg" Type="http://schemas.openxmlformats.org/officeDocument/2006/relationships/image"/><Relationship Id="rId8" Target="../media/image80.png" Type="http://schemas.openxmlformats.org/officeDocument/2006/relationships/image"/><Relationship Id="rId9" Target="../media/image8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3.svg" Type="http://schemas.openxmlformats.org/officeDocument/2006/relationships/image"/><Relationship Id="rId2" Target="../media/image99.png" Type="http://schemas.openxmlformats.org/officeDocument/2006/relationships/image"/><Relationship Id="rId3" Target="../media/image16.svg" Type="http://schemas.openxmlformats.org/officeDocument/2006/relationships/image"/><Relationship Id="rId4" Target="../media/image82.png" Type="http://schemas.openxmlformats.org/officeDocument/2006/relationships/image"/><Relationship Id="rId5" Target="../media/image100.svg" Type="http://schemas.openxmlformats.org/officeDocument/2006/relationships/image"/><Relationship Id="rId6" Target="../media/image101.png" Type="http://schemas.openxmlformats.org/officeDocument/2006/relationships/image"/><Relationship Id="rId7" Target="../media/image11.svg" Type="http://schemas.openxmlformats.org/officeDocument/2006/relationships/image"/><Relationship Id="rId8" Target="../media/image14.svg" Type="http://schemas.openxmlformats.org/officeDocument/2006/relationships/image"/><Relationship Id="rId9" Target="../media/image10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4.png" Type="http://schemas.openxmlformats.org/officeDocument/2006/relationships/image"/><Relationship Id="rId3" Target="../media/image16.svg" Type="http://schemas.openxmlformats.org/officeDocument/2006/relationships/image"/><Relationship Id="rId4" Target="../media/image105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6.png" Type="http://schemas.openxmlformats.org/officeDocument/2006/relationships/image"/><Relationship Id="rId9" Target="../media/image10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37.png" Type="http://schemas.openxmlformats.org/officeDocument/2006/relationships/image"/><Relationship Id="rId14" Target="../media/image38.svg" Type="http://schemas.openxmlformats.org/officeDocument/2006/relationships/image"/><Relationship Id="rId15" Target="../media/image41.png" Type="http://schemas.openxmlformats.org/officeDocument/2006/relationships/image"/><Relationship Id="rId16" Target="../media/image42.svg" Type="http://schemas.openxmlformats.org/officeDocument/2006/relationships/image"/><Relationship Id="rId17" Target="../media/image110.png" Type="http://schemas.openxmlformats.org/officeDocument/2006/relationships/image"/><Relationship Id="rId18" Target="../media/image111.svg" Type="http://schemas.openxmlformats.org/officeDocument/2006/relationships/image"/><Relationship Id="rId19" Target="../media/image112.png" Type="http://schemas.openxmlformats.org/officeDocument/2006/relationships/image"/><Relationship Id="rId2" Target="../media/image108.png" Type="http://schemas.openxmlformats.org/officeDocument/2006/relationships/image"/><Relationship Id="rId20" Target="../media/image113.svg" Type="http://schemas.openxmlformats.org/officeDocument/2006/relationships/image"/><Relationship Id="rId21" Target="../media/image114.png" Type="http://schemas.openxmlformats.org/officeDocument/2006/relationships/image"/><Relationship Id="rId22" Target="../media/image115.svg" Type="http://schemas.openxmlformats.org/officeDocument/2006/relationships/image"/><Relationship Id="rId23" Target="../media/image116.png" Type="http://schemas.openxmlformats.org/officeDocument/2006/relationships/image"/><Relationship Id="rId24" Target="../media/image117.svg" Type="http://schemas.openxmlformats.org/officeDocument/2006/relationships/image"/><Relationship Id="rId25" Target="../media/image118.png" Type="http://schemas.openxmlformats.org/officeDocument/2006/relationships/image"/><Relationship Id="rId26" Target="../media/image119.png" Type="http://schemas.openxmlformats.org/officeDocument/2006/relationships/image"/><Relationship Id="rId27" Target="../media/image120.svg" Type="http://schemas.openxmlformats.org/officeDocument/2006/relationships/image"/><Relationship Id="rId28" Target="../media/image121.png" Type="http://schemas.openxmlformats.org/officeDocument/2006/relationships/image"/><Relationship Id="rId29" Target="../media/image122.svg" Type="http://schemas.openxmlformats.org/officeDocument/2006/relationships/image"/><Relationship Id="rId3" Target="../media/image16.svg" Type="http://schemas.openxmlformats.org/officeDocument/2006/relationships/image"/><Relationship Id="rId30" Target="../media/image123.svg" Type="http://schemas.openxmlformats.org/officeDocument/2006/relationships/image"/><Relationship Id="rId31" Target="../media/image124.png" Type="http://schemas.openxmlformats.org/officeDocument/2006/relationships/image"/><Relationship Id="rId32" Target="../media/image125.svg" Type="http://schemas.openxmlformats.org/officeDocument/2006/relationships/image"/><Relationship Id="rId33" Target="../media/image126.png" Type="http://schemas.openxmlformats.org/officeDocument/2006/relationships/image"/><Relationship Id="rId34" Target="../media/image127.svg" Type="http://schemas.openxmlformats.org/officeDocument/2006/relationships/image"/><Relationship Id="rId35" Target="../media/image128.png" Type="http://schemas.openxmlformats.org/officeDocument/2006/relationships/image"/><Relationship Id="rId36" Target="../media/image129.svg" Type="http://schemas.openxmlformats.org/officeDocument/2006/relationships/image"/><Relationship Id="rId37" Target="../media/image130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svg" Type="http://schemas.openxmlformats.org/officeDocument/2006/relationships/image"/><Relationship Id="rId9" Target="../media/image10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37.png" Type="http://schemas.openxmlformats.org/officeDocument/2006/relationships/image"/><Relationship Id="rId14" Target="../media/image38.svg" Type="http://schemas.openxmlformats.org/officeDocument/2006/relationships/image"/><Relationship Id="rId15" Target="../media/image41.png" Type="http://schemas.openxmlformats.org/officeDocument/2006/relationships/image"/><Relationship Id="rId16" Target="../media/image42.svg" Type="http://schemas.openxmlformats.org/officeDocument/2006/relationships/image"/><Relationship Id="rId17" Target="../media/image133.png" Type="http://schemas.openxmlformats.org/officeDocument/2006/relationships/image"/><Relationship Id="rId18" Target="../media/image111.svg" Type="http://schemas.openxmlformats.org/officeDocument/2006/relationships/image"/><Relationship Id="rId19" Target="../media/image134.png" Type="http://schemas.openxmlformats.org/officeDocument/2006/relationships/image"/><Relationship Id="rId2" Target="../media/image131.png" Type="http://schemas.openxmlformats.org/officeDocument/2006/relationships/image"/><Relationship Id="rId20" Target="../media/image113.svg" Type="http://schemas.openxmlformats.org/officeDocument/2006/relationships/image"/><Relationship Id="rId21" Target="../media/image114.png" Type="http://schemas.openxmlformats.org/officeDocument/2006/relationships/image"/><Relationship Id="rId22" Target="../media/image115.svg" Type="http://schemas.openxmlformats.org/officeDocument/2006/relationships/image"/><Relationship Id="rId23" Target="../media/image118.png" Type="http://schemas.openxmlformats.org/officeDocument/2006/relationships/image"/><Relationship Id="rId24" Target="../media/image117.svg" Type="http://schemas.openxmlformats.org/officeDocument/2006/relationships/image"/><Relationship Id="rId25" Target="../media/image110.png" Type="http://schemas.openxmlformats.org/officeDocument/2006/relationships/image"/><Relationship Id="rId26" Target="../media/image120.svg" Type="http://schemas.openxmlformats.org/officeDocument/2006/relationships/image"/><Relationship Id="rId27" Target="../media/image135.png" Type="http://schemas.openxmlformats.org/officeDocument/2006/relationships/image"/><Relationship Id="rId28" Target="../media/image122.svg" Type="http://schemas.openxmlformats.org/officeDocument/2006/relationships/image"/><Relationship Id="rId29" Target="../media/image123.svg" Type="http://schemas.openxmlformats.org/officeDocument/2006/relationships/image"/><Relationship Id="rId3" Target="../media/image16.svg" Type="http://schemas.openxmlformats.org/officeDocument/2006/relationships/image"/><Relationship Id="rId30" Target="../media/image125.svg" Type="http://schemas.openxmlformats.org/officeDocument/2006/relationships/image"/><Relationship Id="rId31" Target="../media/image136.png" Type="http://schemas.openxmlformats.org/officeDocument/2006/relationships/image"/><Relationship Id="rId32" Target="../media/image137.png" Type="http://schemas.openxmlformats.org/officeDocument/2006/relationships/image"/><Relationship Id="rId33" Target="../media/image127.svg" Type="http://schemas.openxmlformats.org/officeDocument/2006/relationships/image"/><Relationship Id="rId34" Target="../media/image138.png" Type="http://schemas.openxmlformats.org/officeDocument/2006/relationships/image"/><Relationship Id="rId35" Target="../media/image129.svg" Type="http://schemas.openxmlformats.org/officeDocument/2006/relationships/image"/><Relationship Id="rId36" Target="../media/image130.svg" Type="http://schemas.openxmlformats.org/officeDocument/2006/relationships/image"/><Relationship Id="rId37" Target="../media/image139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svg" Type="http://schemas.openxmlformats.org/officeDocument/2006/relationships/image"/><Relationship Id="rId9" Target="../media/image13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41.png" Type="http://schemas.openxmlformats.org/officeDocument/2006/relationships/image"/><Relationship Id="rId12" Target="../media/image16.svg" Type="http://schemas.openxmlformats.org/officeDocument/2006/relationships/image"/><Relationship Id="rId13" Target="../media/image142.png" Type="http://schemas.openxmlformats.org/officeDocument/2006/relationships/image"/><Relationship Id="rId14" Target="../media/image143.svg" Type="http://schemas.openxmlformats.org/officeDocument/2006/relationships/image"/><Relationship Id="rId15" Target="../media/image144.png" Type="http://schemas.openxmlformats.org/officeDocument/2006/relationships/image"/><Relationship Id="rId16" Target="../media/image145.svg" Type="http://schemas.openxmlformats.org/officeDocument/2006/relationships/image"/><Relationship Id="rId17" Target="../media/image146.png" Type="http://schemas.openxmlformats.org/officeDocument/2006/relationships/image"/><Relationship Id="rId18" Target="../media/image147.svg" Type="http://schemas.openxmlformats.org/officeDocument/2006/relationships/image"/><Relationship Id="rId19" Target="../media/image148.png" Type="http://schemas.openxmlformats.org/officeDocument/2006/relationships/image"/><Relationship Id="rId2" Target="../media/image140.png" Type="http://schemas.openxmlformats.org/officeDocument/2006/relationships/image"/><Relationship Id="rId20" Target="../media/image149.svg" Type="http://schemas.openxmlformats.org/officeDocument/2006/relationships/image"/><Relationship Id="rId21" Target="../media/image41.png" Type="http://schemas.openxmlformats.org/officeDocument/2006/relationships/image"/><Relationship Id="rId22" Target="../media/image42.svg" Type="http://schemas.openxmlformats.org/officeDocument/2006/relationships/image"/><Relationship Id="rId3" Target="../media/image36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14.svg" Type="http://schemas.openxmlformats.org/officeDocument/2006/relationships/image"/><Relationship Id="rId14" Target="../media/image150.png" Type="http://schemas.openxmlformats.org/officeDocument/2006/relationships/image"/><Relationship Id="rId15" Target="../media/image16.svg" Type="http://schemas.openxmlformats.org/officeDocument/2006/relationships/image"/><Relationship Id="rId16" Target="../media/image17.png" Type="http://schemas.openxmlformats.org/officeDocument/2006/relationships/image"/><Relationship Id="rId17" Target="../media/image18.png" Type="http://schemas.openxmlformats.org/officeDocument/2006/relationships/image"/><Relationship Id="rId18" Target="../media/image20.svg" Type="http://schemas.openxmlformats.org/officeDocument/2006/relationships/image"/><Relationship Id="rId19" Target="../media/image21.png" Type="http://schemas.openxmlformats.org/officeDocument/2006/relationships/image"/><Relationship Id="rId2" Target="../media/image4.png" Type="http://schemas.openxmlformats.org/officeDocument/2006/relationships/image"/><Relationship Id="rId3" Target="../media/image3.svg" Type="http://schemas.openxmlformats.org/officeDocument/2006/relationships/image"/><Relationship Id="rId4" Target="../media/image5.svg" Type="http://schemas.openxmlformats.org/officeDocument/2006/relationships/image"/><Relationship Id="rId5" Target="../media/image5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1.png" Type="http://schemas.openxmlformats.org/officeDocument/2006/relationships/image"/><Relationship Id="rId3" Target="../media/image16.svg" Type="http://schemas.openxmlformats.org/officeDocument/2006/relationships/image"/><Relationship Id="rId4" Target="../media/image152.png" Type="http://schemas.openxmlformats.org/officeDocument/2006/relationships/image"/><Relationship Id="rId5" Target="../media/image7.svg" Type="http://schemas.openxmlformats.org/officeDocument/2006/relationships/image"/><Relationship Id="rId6" Target="../media/image153.png" Type="http://schemas.openxmlformats.org/officeDocument/2006/relationships/image"/><Relationship Id="rId7" Target="../media/image9.svg" Type="http://schemas.openxmlformats.org/officeDocument/2006/relationships/image"/><Relationship Id="rId8" Target="../media/image154.png" Type="http://schemas.openxmlformats.org/officeDocument/2006/relationships/image"/><Relationship Id="rId9" Target="../media/image15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svg" Type="http://schemas.openxmlformats.org/officeDocument/2006/relationships/image"/><Relationship Id="rId16" Target="../media/image157.png" Type="http://schemas.openxmlformats.org/officeDocument/2006/relationships/image"/><Relationship Id="rId17" Target="../media/image16.svg" Type="http://schemas.openxmlformats.org/officeDocument/2006/relationships/image"/><Relationship Id="rId18" Target="../media/image158.png" Type="http://schemas.openxmlformats.org/officeDocument/2006/relationships/image"/><Relationship Id="rId19" Target="../media/image36.svg" Type="http://schemas.openxmlformats.org/officeDocument/2006/relationships/image"/><Relationship Id="rId2" Target="../media/image25.png" Type="http://schemas.openxmlformats.org/officeDocument/2006/relationships/image"/><Relationship Id="rId20" Target="../media/image8.png" Type="http://schemas.openxmlformats.org/officeDocument/2006/relationships/image"/><Relationship Id="rId21" Target="../media/image9.svg" Type="http://schemas.openxmlformats.org/officeDocument/2006/relationships/image"/><Relationship Id="rId22" Target="../media/image37.png" Type="http://schemas.openxmlformats.org/officeDocument/2006/relationships/image"/><Relationship Id="rId23" Target="../media/image38.svg" Type="http://schemas.openxmlformats.org/officeDocument/2006/relationships/image"/><Relationship Id="rId24" Target="../media/image44.png" Type="http://schemas.openxmlformats.org/officeDocument/2006/relationships/image"/><Relationship Id="rId25" Target="../media/image40.svg" Type="http://schemas.openxmlformats.org/officeDocument/2006/relationships/image"/><Relationship Id="rId26" Target="../media/image41.png" Type="http://schemas.openxmlformats.org/officeDocument/2006/relationships/image"/><Relationship Id="rId27" Target="../media/image42.svg" Type="http://schemas.openxmlformats.org/officeDocument/2006/relationships/image"/><Relationship Id="rId28" Target="../media/image43.svg" Type="http://schemas.openxmlformats.org/officeDocument/2006/relationships/image"/><Relationship Id="rId29" Target="../media/image39.png" Type="http://schemas.openxmlformats.org/officeDocument/2006/relationships/image"/><Relationship Id="rId3" Target="../media/image26.svg" Type="http://schemas.openxmlformats.org/officeDocument/2006/relationships/image"/><Relationship Id="rId30" Target="../media/image45.svg" Type="http://schemas.openxmlformats.org/officeDocument/2006/relationships/image"/><Relationship Id="rId31" Target="../media/image159.png" Type="http://schemas.openxmlformats.org/officeDocument/2006/relationships/image"/><Relationship Id="rId32" Target="../media/image47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svg" Type="http://schemas.openxmlformats.org/officeDocument/2006/relationships/image"/><Relationship Id="rId7" Target="../media/image156.png" Type="http://schemas.openxmlformats.org/officeDocument/2006/relationships/image"/><Relationship Id="rId8" Target="../media/image31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61.png" Type="http://schemas.openxmlformats.org/officeDocument/2006/relationships/image"/><Relationship Id="rId12" Target="../media/image16.svg" Type="http://schemas.openxmlformats.org/officeDocument/2006/relationships/image"/><Relationship Id="rId13" Target="../media/image162.png" Type="http://schemas.openxmlformats.org/officeDocument/2006/relationships/image"/><Relationship Id="rId14" Target="../media/image163.svg" Type="http://schemas.openxmlformats.org/officeDocument/2006/relationships/image"/><Relationship Id="rId15" Target="../media/image164.png" Type="http://schemas.openxmlformats.org/officeDocument/2006/relationships/image"/><Relationship Id="rId16" Target="../media/image165.svg" Type="http://schemas.openxmlformats.org/officeDocument/2006/relationships/image"/><Relationship Id="rId17" Target="../media/image166.png" Type="http://schemas.openxmlformats.org/officeDocument/2006/relationships/image"/><Relationship Id="rId18" Target="../media/image167.svg" Type="http://schemas.openxmlformats.org/officeDocument/2006/relationships/image"/><Relationship Id="rId19" Target="../media/image148.png" Type="http://schemas.openxmlformats.org/officeDocument/2006/relationships/image"/><Relationship Id="rId2" Target="../media/image160.png" Type="http://schemas.openxmlformats.org/officeDocument/2006/relationships/image"/><Relationship Id="rId20" Target="../media/image168.svg" Type="http://schemas.openxmlformats.org/officeDocument/2006/relationships/image"/><Relationship Id="rId21" Target="../media/image41.png" Type="http://schemas.openxmlformats.org/officeDocument/2006/relationships/image"/><Relationship Id="rId22" Target="../media/image42.svg" Type="http://schemas.openxmlformats.org/officeDocument/2006/relationships/image"/><Relationship Id="rId23" Target="../media/image149.svg" Type="http://schemas.openxmlformats.org/officeDocument/2006/relationships/image"/><Relationship Id="rId3" Target="../media/image36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223500" y="1625600"/>
            <a:ext cx="7442200" cy="7035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435100" y="3086100"/>
            <a:ext cx="7239000" cy="698500"/>
          </a:xfrm>
          <a:prstGeom prst="rect">
            <a:avLst/>
          </a:prstGeom>
        </p:spPr>
        <p:txBody>
          <a:bodyPr anchor="t" rtlCol="false" lIns="0" tIns="48260" rIns="0" bIns="0"/>
          <a:lstStyle/>
          <a:p>
            <a:pPr algn="l" lvl="0">
              <a:lnSpc>
                <a:spcPct val="99600"/>
              </a:lnSpc>
            </a:pPr>
            <a:r>
              <a:rPr lang="en-US" sz="3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한 캐릭터의 다음 음악영상까지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35100" y="5880100"/>
            <a:ext cx="8636000" cy="1117600"/>
          </a:xfrm>
          <a:prstGeom prst="rect">
            <a:avLst/>
          </a:prstGeom>
        </p:spPr>
        <p:txBody>
          <a:bodyPr anchor="t" rtlCol="false" lIns="0" tIns="3556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개인 VTuber·소규모 버추얼팀을 위한
AI 음악영상 제작 작업대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35100" y="8089900"/>
            <a:ext cx="7200900" cy="533400"/>
          </a:xfrm>
          <a:prstGeom prst="rect">
            <a:avLst/>
          </a:prstGeom>
        </p:spPr>
        <p:txBody>
          <a:bodyPr anchor="t" rtlCol="false" lIns="0" tIns="27940" rIns="0" bIns="0"/>
          <a:lstStyle/>
          <a:p>
            <a:pPr algn="l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이성민 · RealizeSoft(현실화하는소프트) 대표</a:t>
            </a:r>
          </a:p>
        </p:txBody>
      </p:sp>
      <p:sp>
        <p:nvSpPr>
          <p:cNvPr name="TextBox 6" id="6"/>
          <p:cNvSpPr txBox="true"/>
          <p:nvPr/>
        </p:nvSpPr>
        <p:spPr>
          <a:xfrm rot="5400000">
            <a:off x="15989300" y="2273300"/>
            <a:ext cx="3454400" cy="342900"/>
          </a:xfrm>
          <a:prstGeom prst="rect">
            <a:avLst/>
          </a:prstGeom>
        </p:spPr>
        <p:txBody>
          <a:bodyPr anchor="t" rtlCol="false" lIns="0" tIns="16510" rIns="0" bIns="0"/>
          <a:lstStyle/>
          <a:p>
            <a:pPr algn="l" lvl="0">
              <a:lnSpc>
                <a:spcPct val="99600"/>
              </a:lnSpc>
            </a:pPr>
            <a:r>
              <a:rPr lang="en-US" sz="1299" b="false" i="false" u="none" strike="noStrike">
                <a:solidFill>
                  <a:srgbClr val="4B5563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35100" y="3390900"/>
            <a:ext cx="12966700" cy="2654300"/>
          </a:xfrm>
          <a:prstGeom prst="rect">
            <a:avLst/>
          </a:prstGeom>
        </p:spPr>
        <p:txBody>
          <a:bodyPr anchor="t" rtlCol="false" lIns="0" tIns="148590" rIns="0" bIns="0"/>
          <a:lstStyle/>
          <a:p>
            <a:pPr algn="l" lvl="0">
              <a:lnSpc>
                <a:spcPct val="99600"/>
              </a:lnSpc>
            </a:pPr>
            <a:r>
              <a:rPr lang="en-US" sz="11700" b="false" i="false" u="none" strike="noStrike" spc="-300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7800" y="736600"/>
            <a:ext cx="2552700" cy="546100"/>
          </a:xfrm>
          <a:prstGeom prst="rect">
            <a:avLst/>
          </a:prstGeom>
        </p:spPr>
        <p:txBody>
          <a:bodyPr anchor="t" rtlCol="false" lIns="0" tIns="29036" rIns="0" bIns="0"/>
          <a:lstStyle/>
          <a:p>
            <a:pPr algn="l" lvl="0">
              <a:lnSpc>
                <a:spcPct val="99600"/>
              </a:lnSpc>
            </a:pPr>
            <a:r>
              <a:rPr lang="en-US" sz="2286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2153900" y="4762500"/>
            <a:ext cx="5003800" cy="408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6642100" y="4787900"/>
            <a:ext cx="5003800" cy="4089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68400" y="1612900"/>
            <a:ext cx="70612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제작 과정의 맥락을
사람이 이어야 합니다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168400" y="3695700"/>
            <a:ext cx="635000" cy="635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219200" y="3746500"/>
            <a:ext cx="558800" cy="558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5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7">
            <a:alphaModFix amt="47000"/>
          </a:blip>
          <a:stretch>
            <a:fillRect/>
          </a:stretch>
        </p:blipFill>
        <p:spPr>
          <a:xfrm rot="0">
            <a:off x="9817100" y="4965700"/>
            <a:ext cx="1612900" cy="161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8">
            <a:alphaModFix amt="47000"/>
          </a:blip>
          <a:stretch>
            <a:fillRect/>
          </a:stretch>
        </p:blipFill>
        <p:spPr>
          <a:xfrm rot="0">
            <a:off x="15316200" y="4940300"/>
            <a:ext cx="1612900" cy="1612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Pain Points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17000" y="1739900"/>
            <a:ext cx="55626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1599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공개 제작 사례에 근거한 문제 가설 · 고객 인터뷰 전
출처: 에덴월드 박디라 인터뷰(2026.09.17)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9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1130300" y="4787900"/>
            <a:ext cx="5003800" cy="4089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1">
            <a:alphaModFix amt="47000"/>
          </a:blip>
          <a:stretch>
            <a:fillRect/>
          </a:stretch>
        </p:blipFill>
        <p:spPr>
          <a:xfrm rot="0">
            <a:off x="4318000" y="4965700"/>
            <a:ext cx="1600200" cy="16002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638300" y="7289800"/>
            <a:ext cx="41910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음원·IP 설정과 참고 자료를
모으고 제작 의도를 전달합니다.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38300" y="6705600"/>
            <a:ext cx="16383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준비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50100" y="7289800"/>
            <a:ext cx="42037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기획·생성·편집 사이에서
파일과 설정을 옮깁니다.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50100" y="6705600"/>
            <a:ext cx="16383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제작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49200" y="7277100"/>
            <a:ext cx="41910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수정 이유와 승인 버전을 찾아
다음 제작에 재사용합니다.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49200" y="6692900"/>
            <a:ext cx="16383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검토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2153900" y="4762500"/>
            <a:ext cx="5003800" cy="408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6642100" y="4787900"/>
            <a:ext cx="5003800" cy="4089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68400" y="1612900"/>
            <a:ext cx="70612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왜 VTuber와
소규모팀인가요?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168400" y="3695700"/>
            <a:ext cx="635000" cy="635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219200" y="3746500"/>
            <a:ext cx="558800" cy="558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5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7">
            <a:alphaModFix amt="47000"/>
          </a:blip>
          <a:stretch>
            <a:fillRect/>
          </a:stretch>
        </p:blipFill>
        <p:spPr>
          <a:xfrm rot="0">
            <a:off x="9817100" y="4965700"/>
            <a:ext cx="1612900" cy="161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8">
            <a:alphaModFix amt="47000"/>
          </a:blip>
          <a:stretch>
            <a:fillRect/>
          </a:stretch>
        </p:blipFill>
        <p:spPr>
          <a:xfrm rot="0">
            <a:off x="15316200" y="4940300"/>
            <a:ext cx="1612900" cy="1612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Target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17000" y="1739900"/>
            <a:ext cx="5575300" cy="762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000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초기 타깃 가설 · 구매 의향 검증 전
출처: 에덴월드·스텔라이브·밍글스튜디오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1130300" y="4787900"/>
            <a:ext cx="5003800" cy="4089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>
            <a:alphaModFix amt="47000"/>
          </a:blip>
          <a:stretch>
            <a:fillRect/>
          </a:stretch>
        </p:blipFill>
        <p:spPr>
          <a:xfrm rot="0">
            <a:off x="4318000" y="4965700"/>
            <a:ext cx="1600200" cy="16002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638300" y="7289800"/>
            <a:ext cx="41910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같은 IP로 커버곡과
오리지널곡을 잇는 공개 사례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38300" y="6705600"/>
            <a:ext cx="16383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반복 제작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50100" y="7289800"/>
            <a:ext cx="4203700" cy="1485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운영자가
음원·외주·참고·MV·피드백을 연결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50100" y="6705600"/>
            <a:ext cx="16383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운영 조율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49200" y="7277100"/>
            <a:ext cx="41910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한 곡의 완주와 다음
곡의 맥락 재사용을 확인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49200" y="6692900"/>
            <a:ext cx="4013200" cy="558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한 곡 검증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0782300" y="7251700"/>
            <a:ext cx="6438900" cy="1193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0782300" y="5892800"/>
            <a:ext cx="6438900" cy="1193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0782300" y="4559300"/>
            <a:ext cx="6438900" cy="1193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10782300" y="3213100"/>
            <a:ext cx="6438900" cy="1193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0782300" y="2209800"/>
            <a:ext cx="6438900" cy="74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9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8013700" y="2209800"/>
            <a:ext cx="2273300" cy="749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6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7975600" y="457200"/>
            <a:ext cx="23241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Solution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0" y="6438900"/>
            <a:ext cx="5575300" cy="762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000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현재 구현과 개발 목표의 사용자
흐름 · 영상 모델 실제 호출 검증 전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1168400" y="5422900"/>
            <a:ext cx="635000" cy="635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>
            <a:off x="1219200" y="5473700"/>
            <a:ext cx="558800" cy="5588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168400" y="2476500"/>
            <a:ext cx="5880100" cy="27051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복잡한 제작을</a:t>
            </a:r>
          </a:p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하나의</a:t>
            </a:r>
          </a:p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작업대로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15300" y="2209800"/>
            <a:ext cx="2070100" cy="749300"/>
          </a:xfrm>
          <a:prstGeom prst="rect">
            <a:avLst/>
          </a:prstGeom>
        </p:spPr>
        <p:txBody>
          <a:bodyPr anchor="ctr" rtlCol="false" lIns="0" tIns="25400" rIns="0" bIns="2540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Workflow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72800" y="2209800"/>
            <a:ext cx="6057900" cy="749300"/>
          </a:xfrm>
          <a:prstGeom prst="rect">
            <a:avLst/>
          </a:prstGeom>
        </p:spPr>
        <p:txBody>
          <a:bodyPr anchor="ctr" rtlCol="false" lIns="0" tIns="25400" rIns="0" bIns="2540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What creators do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22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0388600" y="2565400"/>
            <a:ext cx="76200" cy="76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2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0477500" y="2565400"/>
            <a:ext cx="76200" cy="76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0553700" y="2565400"/>
            <a:ext cx="76200" cy="76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8026400" y="3213100"/>
            <a:ext cx="2247900" cy="11938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1125200" y="3632200"/>
            <a:ext cx="57531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캐릭터·설정·자료·권리 정보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102600" y="3594100"/>
            <a:ext cx="20828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19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IP·음원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26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388600" y="3771900"/>
            <a:ext cx="76200" cy="762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6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477500" y="3771900"/>
            <a:ext cx="76200" cy="76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553700" y="3771900"/>
            <a:ext cx="76200" cy="76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8026400" y="4559300"/>
            <a:ext cx="2247900" cy="11938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11125200" y="4978400"/>
            <a:ext cx="57531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대화형 AI로 장면 계획과 도구 제안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102600" y="4940300"/>
            <a:ext cx="20828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19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AI 기획</a:t>
            </a:r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26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388600" y="5118100"/>
            <a:ext cx="76200" cy="762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6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477500" y="5118100"/>
            <a:ext cx="76200" cy="762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553700" y="5118100"/>
            <a:ext cx="76200" cy="762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9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8026400" y="5905500"/>
            <a:ext cx="2247900" cy="11938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11125200" y="6324600"/>
            <a:ext cx="57531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영상 모델과 Take 비교·타임라인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102600" y="6286500"/>
            <a:ext cx="20828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19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생성·편집</a:t>
            </a:r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31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388600" y="6464300"/>
            <a:ext cx="76200" cy="762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6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477500" y="6464300"/>
            <a:ext cx="76200" cy="762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553700" y="6464300"/>
            <a:ext cx="76200" cy="762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2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8026400" y="7251700"/>
            <a:ext cx="2247900" cy="1193800"/>
          </a:xfrm>
          <a:prstGeom prst="rect">
            <a:avLst/>
          </a:prstGeom>
        </p:spPr>
      </p:pic>
      <p:sp>
        <p:nvSpPr>
          <p:cNvPr name="TextBox 45" id="45"/>
          <p:cNvSpPr txBox="true"/>
          <p:nvPr/>
        </p:nvSpPr>
        <p:spPr>
          <a:xfrm rot="0">
            <a:off x="11125200" y="7670800"/>
            <a:ext cx="57531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사람이 결과를 선택·승인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102600" y="7632700"/>
            <a:ext cx="20828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19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검토·출력</a:t>
            </a:r>
          </a:p>
        </p:txBody>
      </p:sp>
      <p:pic>
        <p:nvPicPr>
          <p:cNvPr name="Picture 47" id="47"/>
          <p:cNvPicPr>
            <a:picLocks noChangeAspect="true"/>
          </p:cNvPicPr>
          <p:nvPr/>
        </p:nvPicPr>
        <p:blipFill>
          <a:blip r:embed="rId26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388600" y="7810500"/>
            <a:ext cx="76200" cy="762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26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477500" y="7810500"/>
            <a:ext cx="76200" cy="762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553700" y="7810500"/>
            <a:ext cx="762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0" y="1625600"/>
            <a:ext cx="6578600" cy="698500"/>
          </a:xfrm>
          <a:prstGeom prst="rect">
            <a:avLst/>
          </a:prstGeom>
        </p:spPr>
        <p:txBody>
          <a:bodyPr anchor="t" rtlCol="false" lIns="0" tIns="16891" rIns="0" bIns="0"/>
          <a:lstStyle/>
          <a:p>
            <a:pPr algn="l" lvl="0">
              <a:lnSpc>
                <a:spcPct val="110390"/>
              </a:lnSpc>
            </a:pPr>
            <a:r>
              <a:rPr lang="en-US" sz="38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장면·Take·승인을 한 화면에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Product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7000" y="1739900"/>
            <a:ext cx="4914900" cy="762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000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2026.10.26 실제 내부 시험 화면 ·
합성 시험 미디어 · AI 생성 결과 아님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5689600" y="2654300"/>
            <a:ext cx="635000" cy="635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5727700" y="2692400"/>
            <a:ext cx="558800" cy="558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451100" y="2654300"/>
            <a:ext cx="13157200" cy="7416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2153900" y="4762500"/>
            <a:ext cx="5003800" cy="408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6642100" y="4787900"/>
            <a:ext cx="5003800" cy="4089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68400" y="1612900"/>
            <a:ext cx="70612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프로토타입 개발과
제한 시험 단계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168400" y="3695700"/>
            <a:ext cx="635000" cy="635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219200" y="3746500"/>
            <a:ext cx="558800" cy="558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5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7">
            <a:alphaModFix amt="47000"/>
          </a:blip>
          <a:stretch>
            <a:fillRect/>
          </a:stretch>
        </p:blipFill>
        <p:spPr>
          <a:xfrm rot="0">
            <a:off x="9817100" y="4965700"/>
            <a:ext cx="1612900" cy="161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8">
            <a:alphaModFix amt="47000"/>
          </a:blip>
          <a:stretch>
            <a:fillRect/>
          </a:stretch>
        </p:blipFill>
        <p:spPr>
          <a:xfrm rot="0">
            <a:off x="15316200" y="4940300"/>
            <a:ext cx="1612900" cy="1612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Progress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17000" y="1739900"/>
            <a:ext cx="5575300" cy="762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000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저장소·QA 기록(2026.10.27) ·
발표자료 제작 중 시험 재실행 아님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9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1130300" y="4787900"/>
            <a:ext cx="5003800" cy="4089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1">
            <a:alphaModFix amt="47000"/>
          </a:blip>
          <a:stretch>
            <a:fillRect/>
          </a:stretch>
        </p:blipFill>
        <p:spPr>
          <a:xfrm rot="0">
            <a:off x="4318000" y="4965700"/>
            <a:ext cx="1600200" cy="16002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638300" y="7289800"/>
            <a:ext cx="41910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IP·음원·샷·Take,
편집·승인·FFmpeg 출력과 복구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38300" y="6705600"/>
            <a:ext cx="16256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구현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50100" y="7289800"/>
            <a:ext cx="42037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합성 음원·로컬 모션 3초 MP4,
별도 브라우저 2초 편집 출력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50100" y="6705600"/>
            <a:ext cx="16256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제한 시험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49200" y="7277100"/>
            <a:ext cx="41910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고객 인터뷰·시험 고객·매출
없음; 영상 모델 실호출 미완료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49200" y="6692900"/>
            <a:ext cx="16256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검증 전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2153900" y="4762500"/>
            <a:ext cx="5003800" cy="408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6642100" y="4787900"/>
            <a:ext cx="5003800" cy="4089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68400" y="1612900"/>
            <a:ext cx="70612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시장 관심을
외부 지표로 확인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1168400" y="3695700"/>
            <a:ext cx="635000" cy="635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219200" y="3746500"/>
            <a:ext cx="558800" cy="558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6">
            <a:alphaModFix amt="47000"/>
          </a:blip>
          <a:stretch>
            <a:fillRect/>
          </a:stretch>
        </p:blipFill>
        <p:spPr>
          <a:xfrm rot="0">
            <a:off x="9817100" y="4965700"/>
            <a:ext cx="1612900" cy="161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7">
            <a:alphaModFix amt="47000"/>
          </a:blip>
          <a:stretch>
            <a:fillRect/>
          </a:stretch>
        </p:blipFill>
        <p:spPr>
          <a:xfrm rot="0">
            <a:off x="15316200" y="4940300"/>
            <a:ext cx="1612900" cy="1612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Market Context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17000" y="1739900"/>
            <a:ext cx="5575300" cy="1155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000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출처: YouTube·KOCCA·밍글스튜디오(2026.10.28 확인)
외부 지표는 Aethon TAM이나 자사 실적이 아님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8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1130300" y="4787900"/>
            <a:ext cx="5003800" cy="4089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0">
            <a:alphaModFix amt="47000"/>
          </a:blip>
          <a:stretch>
            <a:fillRect/>
          </a:stretch>
        </p:blipFill>
        <p:spPr>
          <a:xfrm rot="0">
            <a:off x="4318000" y="4965700"/>
            <a:ext cx="1600200" cy="16002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524000" y="7289800"/>
            <a:ext cx="4406900" cy="1384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2024년 글로벌 버추얼 크리에이터 300개 표본의 영상·라이브·Shorts 조회 합계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38300" y="6553200"/>
            <a:ext cx="3657600" cy="812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44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150억 회+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50100" y="7289800"/>
            <a:ext cx="41910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2025년 국내 대중음악산업
매출의 전년 대비 증가율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50100" y="6553200"/>
            <a:ext cx="4267200" cy="812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44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15.8%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49200" y="7277100"/>
            <a:ext cx="4191000" cy="1384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프리미엄 MV 200만~400만 원 · VAT
별도 · 범위별 변동 · 시장 평균 아님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49200" y="6692900"/>
            <a:ext cx="16256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견적 사례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168400" y="7543800"/>
            <a:ext cx="8661400" cy="1193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3556000" y="7835900"/>
            <a:ext cx="60960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en-US" sz="2499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사용 시험으로 확인할 초기 유료 고객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022600" y="8089900"/>
            <a:ext cx="76200" cy="76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098800" y="8089900"/>
            <a:ext cx="76200" cy="76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187700" y="8089900"/>
            <a:ext cx="76200" cy="762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676400" y="7734300"/>
            <a:ext cx="901700" cy="508000"/>
          </a:xfrm>
          <a:prstGeom prst="rect">
            <a:avLst/>
          </a:prstGeom>
        </p:spPr>
        <p:txBody>
          <a:bodyPr anchor="t" rtlCol="false" lIns="0" tIns="25254" rIns="0" bIns="0"/>
          <a:lstStyle/>
          <a:p>
            <a:pPr algn="ctr" lvl="0">
              <a:lnSpc>
                <a:spcPct val="99600"/>
              </a:lnSpc>
            </a:pPr>
            <a:r>
              <a:rPr lang="en-US" sz="1988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SOM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8400" y="1612900"/>
            <a:ext cx="75184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도달할 고객의
범위를 좁힙니다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8534400" y="2654300"/>
            <a:ext cx="635000" cy="635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8585200" y="2692400"/>
            <a:ext cx="558800" cy="558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Market Scope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8400" y="3759200"/>
            <a:ext cx="5473700" cy="762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000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고객 수 × 연간 제작 빈도 × 제작
1회당 도구 지출 · 금액 미산정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7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1168400" y="4800600"/>
            <a:ext cx="8661400" cy="11938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3556000" y="5092700"/>
            <a:ext cx="50673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en-US" sz="25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IP 기반 음악영상 제작 소프트웨어 수요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1524000" y="5448300"/>
            <a:ext cx="1206500" cy="3302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574800" y="5448300"/>
            <a:ext cx="11049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12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전체 범위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4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022600" y="5359400"/>
            <a:ext cx="76200" cy="76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098800" y="5359400"/>
            <a:ext cx="76200" cy="76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187700" y="5359400"/>
            <a:ext cx="76200" cy="762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676400" y="4991100"/>
            <a:ext cx="901700" cy="508000"/>
          </a:xfrm>
          <a:prstGeom prst="rect">
            <a:avLst/>
          </a:prstGeom>
        </p:spPr>
        <p:txBody>
          <a:bodyPr anchor="t" rtlCol="false" lIns="0" tIns="25254" rIns="0" bIns="0"/>
          <a:lstStyle/>
          <a:p>
            <a:pPr algn="ctr" lvl="0">
              <a:lnSpc>
                <a:spcPct val="99600"/>
              </a:lnSpc>
            </a:pPr>
            <a:r>
              <a:rPr lang="en-US" sz="1988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TAM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21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168400" y="6172200"/>
            <a:ext cx="8661400" cy="11938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3556000" y="6464300"/>
            <a:ext cx="56896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8650"/>
              </a:lnSpc>
            </a:pPr>
            <a:r>
              <a:rPr lang="en-US" sz="2499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한국어권 VTuber·소규모 버추얼팀</a:t>
            </a:r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4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022600" y="6731000"/>
            <a:ext cx="76200" cy="76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4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098800" y="6731000"/>
            <a:ext cx="76200" cy="762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3187700" y="6731000"/>
            <a:ext cx="76200" cy="762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1676400" y="6362700"/>
            <a:ext cx="901700" cy="508000"/>
          </a:xfrm>
          <a:prstGeom prst="rect">
            <a:avLst/>
          </a:prstGeom>
        </p:spPr>
        <p:txBody>
          <a:bodyPr anchor="t" rtlCol="false" lIns="0" tIns="25254" rIns="0" bIns="0"/>
          <a:lstStyle/>
          <a:p>
            <a:pPr algn="ctr" lvl="0">
              <a:lnSpc>
                <a:spcPct val="99600"/>
              </a:lnSpc>
            </a:pPr>
            <a:r>
              <a:rPr lang="en-US" sz="1988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SAM 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68400" y="8877300"/>
            <a:ext cx="2692400" cy="762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000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원 면적은 금액 비율이 아닙니다.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1524000" y="6819900"/>
            <a:ext cx="1206500" cy="330200"/>
          </a:xfrm>
          <a:prstGeom prst="rect">
            <a:avLst/>
          </a:prstGeom>
        </p:spPr>
      </p:pic>
      <p:sp>
        <p:nvSpPr>
          <p:cNvPr name="TextBox 37" id="37"/>
          <p:cNvSpPr txBox="true"/>
          <p:nvPr/>
        </p:nvSpPr>
        <p:spPr>
          <a:xfrm rot="0">
            <a:off x="1574800" y="6819900"/>
            <a:ext cx="11049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12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접근 범위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1524000" y="8166100"/>
            <a:ext cx="1206500" cy="3302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1574800" y="8166100"/>
            <a:ext cx="1104900" cy="33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129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초기 고객</a:t>
            </a:r>
          </a:p>
        </p:txBody>
      </p:sp>
      <p:pic>
        <p:nvPicPr>
          <p:cNvPr name="Picture 40" id="40"/>
          <p:cNvPicPr>
            <a:picLocks noChangeAspect="true"/>
          </p:cNvPicPr>
          <p:nvPr/>
        </p:nvPicPr>
        <p:blipFill>
          <a:blip r:embed="rId23">
            <a:alphaModFix amt="2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-5400000">
            <a:off x="11150600" y="-368300"/>
            <a:ext cx="11125200" cy="111252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-5400000">
            <a:off x="13068300" y="1536700"/>
            <a:ext cx="7302500" cy="7302500"/>
          </a:xfrm>
          <a:prstGeom prst="rect">
            <a:avLst/>
          </a:prstGeom>
          <a:effectLst>
            <a:outerShdw dir="10800000" dist="56198" blurRad="438341">
              <a:srgbClr val="97B3B6">
                <a:alpha val="18000"/>
              </a:srgbClr>
            </a:outerShdw>
          </a:effectLst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-5400000">
            <a:off x="14871700" y="3340100"/>
            <a:ext cx="3695700" cy="3695700"/>
          </a:xfrm>
          <a:prstGeom prst="rect">
            <a:avLst/>
          </a:prstGeom>
          <a:effectLst>
            <a:outerShdw dir="10800000" dist="85285" blurRad="554355">
              <a:srgbClr val="578C93">
                <a:alpha val="14000"/>
              </a:srgbClr>
            </a:outerShdw>
          </a:effectLst>
        </p:spPr>
      </p:pic>
      <p:sp>
        <p:nvSpPr>
          <p:cNvPr name="TextBox 43" id="43"/>
          <p:cNvSpPr txBox="true"/>
          <p:nvPr/>
        </p:nvSpPr>
        <p:spPr>
          <a:xfrm rot="0">
            <a:off x="15697200" y="4610100"/>
            <a:ext cx="2057400" cy="850900"/>
          </a:xfrm>
          <a:prstGeom prst="rect">
            <a:avLst/>
          </a:prstGeom>
        </p:spPr>
        <p:txBody>
          <a:bodyPr anchor="t" rtlCol="false" lIns="0" tIns="20542" rIns="0" bIns="0"/>
          <a:lstStyle/>
          <a:p>
            <a:pPr algn="ctr" lvl="0">
              <a:lnSpc>
                <a:spcPct val="110390"/>
              </a:lnSpc>
            </a:pPr>
            <a:r>
              <a:rPr lang="en-US" sz="4621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SOM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119100" y="4737100"/>
            <a:ext cx="1803400" cy="596900"/>
          </a:xfrm>
          <a:prstGeom prst="rect">
            <a:avLst/>
          </a:prstGeom>
        </p:spPr>
        <p:txBody>
          <a:bodyPr anchor="t" rtlCol="false" lIns="0" tIns="14055" rIns="0" bIns="0"/>
          <a:lstStyle/>
          <a:p>
            <a:pPr algn="ctr" lvl="0">
              <a:lnSpc>
                <a:spcPct val="110390"/>
              </a:lnSpc>
            </a:pPr>
            <a:r>
              <a:rPr lang="en-US" sz="3161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SAM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506200" y="4749800"/>
            <a:ext cx="1320800" cy="546100"/>
          </a:xfrm>
          <a:prstGeom prst="rect">
            <a:avLst/>
          </a:prstGeom>
        </p:spPr>
        <p:txBody>
          <a:bodyPr anchor="t" rtlCol="false" lIns="0" tIns="12974" rIns="0" bIns="0"/>
          <a:lstStyle/>
          <a:p>
            <a:pPr algn="ctr" lvl="0">
              <a:lnSpc>
                <a:spcPct val="110390"/>
              </a:lnSpc>
            </a:pPr>
            <a:r>
              <a:rPr lang="en-US" sz="2918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TAM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Alternatives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168400" y="3657600"/>
            <a:ext cx="5765800" cy="1155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000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제공 방식 기준 비교 · Aethon의
품질·가격·시간 우위는 미검증</a:t>
            </a:r>
          </a:p>
          <a:p>
            <a:pPr algn="l" lvl="0">
              <a:lnSpc>
                <a:spcPct val="126160"/>
              </a:lnSpc>
            </a:pPr>
            <a:r>
              <a:rPr lang="en-US" sz="2000" b="false" i="false" u="none" strike="noStrike" spc="-100">
                <a:solidFill>
                  <a:srgbClr val="9E9E9E"/>
                </a:solidFill>
                <a:latin typeface="Pretendard Light"/>
                <a:ea typeface="Pretendard Light"/>
                <a:cs typeface="Pretendard Light"/>
              </a:rPr>
              <a:t/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168400" y="2654300"/>
            <a:ext cx="635000" cy="635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219200" y="2692400"/>
            <a:ext cx="558800" cy="5588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168400" y="1612900"/>
            <a:ext cx="8750300" cy="9525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대안별 작업 방식</a:t>
            </a:r>
          </a:p>
        </p:txBody>
      </p: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1168400" y="4610100"/>
          <a:ext cx="15887700" cy="4483100"/>
        </p:xfrm>
        <a:graphic>
          <a:graphicData uri="http://schemas.openxmlformats.org/drawingml/2006/table">
            <a:tbl>
              <a:tblPr/>
              <a:tblGrid>
                <a:gridCol w="2199814"/>
                <a:gridCol w="4379165"/>
                <a:gridCol w="4512177"/>
                <a:gridCol w="4767969"/>
              </a:tblGrid>
              <a:tr h="1111519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800" b="tru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비교 기준</a:t>
                      </a:r>
                      <a:endParaRPr lang="en-US" sz="1100"/>
                    </a:p>
                  </a:txBody>
                  <a:tcPr anchor="ctr" marL="133350" marT="112013" marR="133350" marB="112013">
                    <a:lnL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800" b="tru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개별 도구</a:t>
                      </a:r>
                      <a:endParaRPr lang="en-US" sz="1100"/>
                    </a:p>
                  </a:txBody>
                  <a:tcPr anchor="ctr" marL="133350" marT="112013" marR="133350" marB="11201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800" b="tru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전문 외주</a:t>
                      </a:r>
                      <a:endParaRPr lang="en-US" sz="1100"/>
                    </a:p>
                  </a:txBody>
                  <a:tcPr anchor="ctr" marL="133350" marT="112013" marR="133350" marB="11201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800" b="tru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Aethon 목표</a:t>
                      </a:r>
                      <a:endParaRPr lang="en-US" sz="1100"/>
                    </a:p>
                  </a:txBody>
                  <a:tcPr anchor="ctr" marL="133350" marT="112013" marR="133350" marB="11201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0"/>
                    </a:solidFill>
                  </a:tcPr>
                </a:tc>
              </a:tr>
              <a:tr h="1111519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8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기획·제작</a:t>
                      </a:r>
                      <a:endParaRPr lang="en-US" sz="1100"/>
                    </a:p>
                  </a:txBody>
                  <a:tcPr anchor="ctr" marL="133350" marT="112013" marR="133350" marB="112013">
                    <a:lnL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8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사용자 도구 조합</a:t>
                      </a:r>
                      <a:endParaRPr lang="en-US" sz="1100"/>
                    </a:p>
                  </a:txBody>
                  <a:tcPr anchor="ctr" marL="133350" marT="112013" marR="133350" marB="11201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8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계약 범위 수행</a:t>
                      </a:r>
                      <a:endParaRPr lang="en-US" sz="1100"/>
                    </a:p>
                  </a:txBody>
                  <a:tcPr anchor="ctr" marL="133350" marT="112013" marR="133350" marB="11201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8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IP·음원·장면 연결</a:t>
                      </a:r>
                      <a:endParaRPr lang="en-US" sz="1100"/>
                    </a:p>
                  </a:txBody>
                  <a:tcPr anchor="ctr" marL="133350" marT="112013" marR="133350" marB="11201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111519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8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선택·수정</a:t>
                      </a:r>
                      <a:endParaRPr lang="en-US" sz="1100"/>
                    </a:p>
                  </a:txBody>
                  <a:tcPr anchor="ctr" marL="133350" marT="112013" marR="133350" marB="112013">
                    <a:lnL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8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파일·프롬프트 관리</a:t>
                      </a:r>
                      <a:endParaRPr lang="en-US" sz="1100"/>
                    </a:p>
                  </a:txBody>
                  <a:tcPr anchor="ctr" marL="133350" marT="112013" marR="133350" marB="11201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8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참고·검수 의견 전달</a:t>
                      </a:r>
                      <a:endParaRPr lang="en-US" sz="1100"/>
                    </a:p>
                  </a:txBody>
                  <a:tcPr anchor="ctr" marL="133350" marT="112013" marR="133350" marB="11201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8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Take·수정·승인 관리</a:t>
                      </a:r>
                      <a:endParaRPr lang="en-US" sz="1100"/>
                    </a:p>
                  </a:txBody>
                  <a:tcPr anchor="ctr" marL="133350" marT="112013" marR="133350" marB="11201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111519"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8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다음 제작</a:t>
                      </a:r>
                      <a:endParaRPr lang="en-US" sz="1100"/>
                    </a:p>
                  </a:txBody>
                  <a:tcPr anchor="ctr" marL="133350" marT="112013" marR="133350" marB="112013">
                    <a:lnL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8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자료·설정 재연결</a:t>
                      </a:r>
                      <a:endParaRPr lang="en-US" sz="1100"/>
                    </a:p>
                  </a:txBody>
                  <a:tcPr anchor="ctr" marL="133350" marT="112013" marR="133350" marB="11201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8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새 의뢰·범위 협의</a:t>
                      </a:r>
                      <a:endParaRPr lang="en-US" sz="1100"/>
                    </a:p>
                  </a:txBody>
                  <a:tcPr anchor="ctr" marL="133350" marT="112013" marR="133350" marB="11201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lvl="0">
                        <a:lnSpc>
                          <a:spcPct val="126160"/>
                        </a:lnSpc>
                        <a:defRPr/>
                      </a:pPr>
                      <a:r>
                        <a:rPr lang="en-US" sz="2800" b="false" i="false" u="none" strike="noStrike" spc="-100">
                          <a:solidFill>
                            <a:srgbClr val="202124"/>
                          </a:solidFill>
                          <a:latin typeface="Pretendard Light"/>
                          <a:ea typeface="Pretendard Light"/>
                          <a:cs typeface="Pretendard Light"/>
                        </a:rPr>
                        <a:t>같은 IP 맥락 재사용</a:t>
                      </a:r>
                      <a:endParaRPr lang="en-US" sz="1100"/>
                    </a:p>
                  </a:txBody>
                  <a:tcPr anchor="ctr" marL="133350" marT="112013" marR="133350" marB="112013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 algn="ctr" cap="flat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0680700" y="2032000"/>
            <a:ext cx="3365500" cy="6616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0680700" y="2400300"/>
            <a:ext cx="3365500" cy="6235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7975600" y="457200"/>
            <a:ext cx="2324100" cy="381000"/>
          </a:xfrm>
          <a:prstGeom prst="rect">
            <a:avLst/>
          </a:prstGeom>
        </p:spPr>
        <p:txBody>
          <a:bodyPr anchor="t" rtlCol="false" lIns="0" tIns="20320" rIns="0" bIns="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Business Model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7048500" y="2400300"/>
            <a:ext cx="3365500" cy="6235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7366000" y="5029200"/>
            <a:ext cx="2895600" cy="214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반복 제작자를 위한 구독
프로젝트·IP·버전과
승인 기록 관리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8400" y="3035300"/>
            <a:ext cx="54991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구독과 사용량
과금 가설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8400" y="6121400"/>
            <a:ext cx="5410200" cy="838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200" b="false" i="false" u="none" strike="noStrike" spc="-2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같은 기간 승인본당 비용 = (생성·재시도
+ 처리 + 저장·전송 + 지원) ÷ 승인본 수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1168400" y="5118100"/>
            <a:ext cx="635000" cy="635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1219200" y="5156200"/>
            <a:ext cx="558800" cy="558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7213600" y="4241800"/>
            <a:ext cx="3022600" cy="5969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7353300" y="4305300"/>
            <a:ext cx="27559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6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작업대 구독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1074400" y="5029200"/>
            <a:ext cx="2768600" cy="269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영상 생성·재시도 사용량
모델 호출과 처리량에
따른 비용 반영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0858500" y="4241800"/>
            <a:ext cx="3022600" cy="5969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0985500" y="4305300"/>
            <a:ext cx="27559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6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생성 사용량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23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14300200" y="2400300"/>
            <a:ext cx="3365500" cy="62357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4681200" y="5029200"/>
            <a:ext cx="2768600" cy="2146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8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반복 사용·지불 의향을
확인한 뒤
요금제와 가격 확정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4465300" y="4241800"/>
            <a:ext cx="3022600" cy="5969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4605000" y="4305300"/>
            <a:ext cx="2755900" cy="48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6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검증 후 결정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8102600" y="2755900"/>
            <a:ext cx="1244600" cy="1193800"/>
          </a:xfrm>
          <a:prstGeom prst="rect">
            <a:avLst/>
          </a:prstGeom>
          <a:effectLst>
            <a:outerShdw dir="2700000" dist="36635" blurRad="136922">
              <a:srgbClr val="B7C4C6">
                <a:alpha val="50000"/>
              </a:srgbClr>
            </a:outerShdw>
          </a:effectLst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8382000" y="2933700"/>
            <a:ext cx="711200" cy="825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15354300" y="2755900"/>
            <a:ext cx="1244600" cy="1193800"/>
          </a:xfrm>
          <a:prstGeom prst="rect">
            <a:avLst/>
          </a:prstGeom>
          <a:effectLst>
            <a:outerShdw dir="2700000" dist="36635" blurRad="136922">
              <a:srgbClr val="B7C4C6">
                <a:alpha val="50000"/>
              </a:srgbClr>
            </a:outerShdw>
          </a:effectLst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0">
            <a:off x="15608300" y="2984500"/>
            <a:ext cx="736600" cy="7366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11747500" y="2781300"/>
            <a:ext cx="1244600" cy="1193800"/>
          </a:xfrm>
          <a:prstGeom prst="rect">
            <a:avLst/>
          </a:prstGeom>
          <a:effectLst>
            <a:outerShdw dir="2700000" dist="36635" blurRad="136922">
              <a:srgbClr val="B7C4C6">
                <a:alpha val="50000"/>
              </a:srgbClr>
            </a:outerShdw>
          </a:effectLst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 rot="0">
            <a:off x="11976100" y="2971800"/>
            <a:ext cx="787400" cy="7874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11087100" y="2070100"/>
            <a:ext cx="2628900" cy="355600"/>
          </a:xfrm>
          <a:prstGeom prst="rect">
            <a:avLst/>
          </a:prstGeom>
        </p:spPr>
        <p:txBody>
          <a:bodyPr anchor="t" rtlCol="false" lIns="0" tIns="17780" rIns="0" bIns="0"/>
          <a:lstStyle/>
          <a:p>
            <a:pPr algn="ctr" lvl="0">
              <a:lnSpc>
                <a:spcPct val="99600"/>
              </a:lnSpc>
            </a:pPr>
            <a:r>
              <a:rPr lang="en-US" sz="1400" b="false" i="false" u="none" strike="noStrike">
                <a:solidFill>
                  <a:srgbClr val="FFFFFF"/>
                </a:solidFill>
                <a:latin typeface="LINE Seed Sans TH Bold"/>
                <a:ea typeface="LINE Seed Sans TH Bold"/>
                <a:cs typeface="LINE Seed Sans TH Bold"/>
              </a:rPr>
              <a:t>Hypothesis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0" y="1612900"/>
            <a:ext cx="6591300" cy="774700"/>
          </a:xfrm>
          <a:prstGeom prst="rect">
            <a:avLst/>
          </a:prstGeom>
        </p:spPr>
        <p:txBody>
          <a:bodyPr anchor="t" rtlCol="false" lIns="0" tIns="18669" rIns="0" bIns="0"/>
          <a:lstStyle/>
          <a:p>
            <a:pPr algn="l" lvl="0">
              <a:lnSpc>
                <a:spcPct val="110390"/>
              </a:lnSpc>
            </a:pPr>
            <a:r>
              <a:rPr lang="en-US" sz="42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현재와 향후 시스템 구조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7000" y="1739900"/>
            <a:ext cx="4914900" cy="762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000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사용자 · Aethon 플랫폼 · 외부
모델/서비스 | 위: 현재 / 아래: 향후 미구현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5689600" y="2654300"/>
            <a:ext cx="635000" cy="635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-12700" y="2654300"/>
            <a:ext cx="18110200" cy="7188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0" y="1625600"/>
            <a:ext cx="6578600" cy="736600"/>
          </a:xfrm>
          <a:prstGeom prst="rect">
            <a:avLst/>
          </a:prstGeom>
        </p:spPr>
        <p:txBody>
          <a:bodyPr anchor="t" rtlCol="false" lIns="0" tIns="17780" rIns="0" bIns="0"/>
          <a:lstStyle/>
          <a:p>
            <a:pPr algn="l" lvl="0">
              <a:lnSpc>
                <a:spcPct val="110390"/>
              </a:lnSpc>
            </a:pPr>
            <a:r>
              <a:rPr lang="en-US" sz="40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대화·이미지·영상 모델 고도화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AI Roadmap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7000" y="1739900"/>
            <a:ext cx="4914900" cy="762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000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향후 R&amp;D 제안 · 권리·교사 모델 조건
확인 · 자체 모델 완성 및 우위 미검증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5689600" y="2654300"/>
            <a:ext cx="635000" cy="635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5727700" y="2692400"/>
            <a:ext cx="558800" cy="558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-12700" y="2654300"/>
            <a:ext cx="18110200" cy="7188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Go to Market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168400" y="1612900"/>
            <a:ext cx="87503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한 곡과 다음 곡의
사용을 검증합니다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17000" y="1739900"/>
            <a:ext cx="4914900" cy="762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000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대표가 제작자 채널과 커뮤니티에 접근 · 미실행 계획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6959600" y="2743200"/>
            <a:ext cx="635000" cy="63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7010400" y="2781300"/>
            <a:ext cx="558800" cy="558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6248400" y="4432300"/>
            <a:ext cx="76200" cy="76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6337300" y="4432300"/>
            <a:ext cx="76200" cy="76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6413500" y="4432300"/>
            <a:ext cx="76200" cy="76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6248400" y="7061200"/>
            <a:ext cx="76200" cy="76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6337300" y="7061200"/>
            <a:ext cx="76200" cy="76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6413500" y="7061200"/>
            <a:ext cx="76200" cy="76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7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1206500" y="5245100"/>
            <a:ext cx="4889500" cy="3708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9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1206500" y="3860800"/>
            <a:ext cx="4889500" cy="11557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2514600" y="4013200"/>
            <a:ext cx="2247900" cy="685800"/>
          </a:xfrm>
          <a:prstGeom prst="rect">
            <a:avLst/>
          </a:prstGeom>
        </p:spPr>
        <p:txBody>
          <a:bodyPr anchor="t" rtlCol="false" lIns="0" tIns="35560" rIns="0" bIns="0"/>
          <a:lstStyle/>
          <a:p>
            <a:pPr algn="ctr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Interview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5100" y="4508500"/>
            <a:ext cx="44323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2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최근 제작물·의뢰·수정 기록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574800" y="7086600"/>
            <a:ext cx="4140200" cy="254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1790700" y="6197600"/>
            <a:ext cx="36957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반복되는 마찰을 확인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3136900" y="5588000"/>
            <a:ext cx="1016000" cy="4445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3175000" y="5651500"/>
            <a:ext cx="9398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0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목표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08100" y="8001000"/>
            <a:ext cx="46736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개인 VTuber·버추얼팀 인터뷰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3136900" y="7391400"/>
            <a:ext cx="1016000" cy="4445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3098800" y="7416800"/>
            <a:ext cx="10922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0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방법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26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6692900" y="5219700"/>
            <a:ext cx="4889500" cy="37084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8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6692900" y="3848100"/>
            <a:ext cx="4889500" cy="11557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8013700" y="3987800"/>
            <a:ext cx="2247900" cy="685800"/>
          </a:xfrm>
          <a:prstGeom prst="rect">
            <a:avLst/>
          </a:prstGeom>
        </p:spPr>
        <p:txBody>
          <a:bodyPr anchor="t" rtlCol="false" lIns="0" tIns="35560" rIns="0" bIns="0"/>
          <a:lstStyle/>
          <a:p>
            <a:pPr algn="ctr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Usage Test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921500" y="4483100"/>
            <a:ext cx="44323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2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한 곡을 기획부터 출력까지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7061200" y="7061200"/>
            <a:ext cx="4140200" cy="25400"/>
          </a:xfrm>
          <a:prstGeom prst="rect">
            <a:avLst/>
          </a:prstGeom>
        </p:spPr>
      </p:pic>
      <p:sp>
        <p:nvSpPr>
          <p:cNvPr name="TextBox 37" id="37"/>
          <p:cNvSpPr txBox="true"/>
          <p:nvPr/>
        </p:nvSpPr>
        <p:spPr>
          <a:xfrm rot="0">
            <a:off x="7289800" y="6172200"/>
            <a:ext cx="36957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완주 여부와 수정 이유 확인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8623300" y="5562600"/>
            <a:ext cx="1016000" cy="4445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8674100" y="5626100"/>
            <a:ext cx="9398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0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목표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794500" y="7988300"/>
            <a:ext cx="46736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실제 작업 과정과 승인본 비용 관찰</a:t>
            </a:r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8623300" y="7366000"/>
            <a:ext cx="1016000" cy="444500"/>
          </a:xfrm>
          <a:prstGeom prst="rect">
            <a:avLst/>
          </a:prstGeom>
        </p:spPr>
      </p:pic>
      <p:sp>
        <p:nvSpPr>
          <p:cNvPr name="TextBox 42" id="42"/>
          <p:cNvSpPr txBox="true"/>
          <p:nvPr/>
        </p:nvSpPr>
        <p:spPr>
          <a:xfrm rot="0">
            <a:off x="8585200" y="7404100"/>
            <a:ext cx="10922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0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방법</a:t>
            </a:r>
          </a:p>
        </p:txBody>
      </p:sp>
      <p:pic>
        <p:nvPicPr>
          <p:cNvPr name="Picture 43" id="43"/>
          <p:cNvPicPr>
            <a:picLocks noChangeAspect="true"/>
          </p:cNvPicPr>
          <p:nvPr/>
        </p:nvPicPr>
        <p:blipFill>
          <a:blip r:embed="rId13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1760200" y="4432300"/>
            <a:ext cx="76200" cy="762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13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1836400" y="4432300"/>
            <a:ext cx="76200" cy="762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1925300" y="4432300"/>
            <a:ext cx="76200" cy="762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15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11760200" y="7061200"/>
            <a:ext cx="76200" cy="762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15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11836400" y="7061200"/>
            <a:ext cx="76200" cy="762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11925300" y="7061200"/>
            <a:ext cx="76200" cy="762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33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 rot="0">
            <a:off x="12204700" y="5219700"/>
            <a:ext cx="4889500" cy="37084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35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 rot="0">
            <a:off x="12204700" y="3848100"/>
            <a:ext cx="4889500" cy="1155700"/>
          </a:xfrm>
          <a:prstGeom prst="rect">
            <a:avLst/>
          </a:prstGeom>
        </p:spPr>
      </p:pic>
      <p:sp>
        <p:nvSpPr>
          <p:cNvPr name="TextBox 51" id="51"/>
          <p:cNvSpPr txBox="true"/>
          <p:nvPr/>
        </p:nvSpPr>
        <p:spPr>
          <a:xfrm rot="0">
            <a:off x="13525500" y="3987800"/>
            <a:ext cx="2247900" cy="685800"/>
          </a:xfrm>
          <a:prstGeom prst="rect">
            <a:avLst/>
          </a:prstGeom>
        </p:spPr>
        <p:txBody>
          <a:bodyPr anchor="t" rtlCol="false" lIns="0" tIns="35560" rIns="0" bIns="0"/>
          <a:lstStyle/>
          <a:p>
            <a:pPr algn="ctr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Repeat Use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433300" y="4483100"/>
            <a:ext cx="44323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2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다음 곡의 정보 재사용</a:t>
            </a:r>
          </a:p>
        </p:txBody>
      </p:sp>
      <p:pic>
        <p:nvPicPr>
          <p:cNvPr name="Picture 53" id="53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0">
            <a:off x="12573000" y="7061200"/>
            <a:ext cx="4140200" cy="25400"/>
          </a:xfrm>
          <a:prstGeom prst="rect">
            <a:avLst/>
          </a:prstGeom>
        </p:spPr>
      </p:pic>
      <p:sp>
        <p:nvSpPr>
          <p:cNvPr name="TextBox 54" id="54"/>
          <p:cNvSpPr txBox="true"/>
          <p:nvPr/>
        </p:nvSpPr>
        <p:spPr>
          <a:xfrm rot="0">
            <a:off x="12801600" y="6172200"/>
            <a:ext cx="36957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반복 사용과 지불 의향 확인</a:t>
            </a:r>
          </a:p>
        </p:txBody>
      </p:sp>
      <p:pic>
        <p:nvPicPr>
          <p:cNvPr name="Picture 55" id="55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14135100" y="5562600"/>
            <a:ext cx="1016000" cy="444500"/>
          </a:xfrm>
          <a:prstGeom prst="rect">
            <a:avLst/>
          </a:prstGeom>
        </p:spPr>
      </p:pic>
      <p:sp>
        <p:nvSpPr>
          <p:cNvPr name="TextBox 56" id="56"/>
          <p:cNvSpPr txBox="true"/>
          <p:nvPr/>
        </p:nvSpPr>
        <p:spPr>
          <a:xfrm rot="0">
            <a:off x="14173200" y="5626100"/>
            <a:ext cx="9398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0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목표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306300" y="7988300"/>
            <a:ext cx="46736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실제 결제 및 지원 비용을 검증</a:t>
            </a:r>
          </a:p>
        </p:txBody>
      </p:sp>
      <p:pic>
        <p:nvPicPr>
          <p:cNvPr name="Picture 58" id="58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14135100" y="7366000"/>
            <a:ext cx="1016000" cy="444500"/>
          </a:xfrm>
          <a:prstGeom prst="rect">
            <a:avLst/>
          </a:prstGeom>
        </p:spPr>
      </p:pic>
      <p:sp>
        <p:nvSpPr>
          <p:cNvPr name="TextBox 59" id="59"/>
          <p:cNvSpPr txBox="true"/>
          <p:nvPr/>
        </p:nvSpPr>
        <p:spPr>
          <a:xfrm rot="0">
            <a:off x="14097000" y="7404100"/>
            <a:ext cx="10922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0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방법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Roadmap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168400" y="1612900"/>
            <a:ext cx="87503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검증 결과에 따라
제품과 팀을 확장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17000" y="1739900"/>
            <a:ext cx="49149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000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단계별 진입 조건 · 일정·채용·예산 미확정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6959600" y="2743200"/>
            <a:ext cx="635000" cy="635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7010400" y="2781300"/>
            <a:ext cx="558800" cy="558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6248400" y="4432300"/>
            <a:ext cx="76200" cy="76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6337300" y="4432300"/>
            <a:ext cx="76200" cy="76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6413500" y="4432300"/>
            <a:ext cx="76200" cy="76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5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6248400" y="7061200"/>
            <a:ext cx="76200" cy="76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6337300" y="7061200"/>
            <a:ext cx="76200" cy="76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6413500" y="7061200"/>
            <a:ext cx="76200" cy="76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7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1206500" y="5245100"/>
            <a:ext cx="4889500" cy="3708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9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1206500" y="3860800"/>
            <a:ext cx="4889500" cy="11557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2514600" y="4013200"/>
            <a:ext cx="2247900" cy="685800"/>
          </a:xfrm>
          <a:prstGeom prst="rect">
            <a:avLst/>
          </a:prstGeom>
        </p:spPr>
        <p:txBody>
          <a:bodyPr anchor="t" rtlCol="false" lIns="0" tIns="35560" rIns="0" bIns="0"/>
          <a:lstStyle/>
          <a:p>
            <a:pPr algn="ctr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Validate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35100" y="4508500"/>
            <a:ext cx="44323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2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핵심 흐름 완성 → 제작자 검증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574800" y="7086600"/>
            <a:ext cx="4140200" cy="254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1803400" y="6197600"/>
            <a:ext cx="36957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연결·출력·복구와 작업 완주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3136900" y="5588000"/>
            <a:ext cx="1016000" cy="4445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3098800" y="5613400"/>
            <a:ext cx="10922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0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조건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08100" y="8001000"/>
            <a:ext cx="4660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제작자 결과 채택 이유와 병목 확인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3136900" y="7391400"/>
            <a:ext cx="1016000" cy="4445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3098800" y="7416800"/>
            <a:ext cx="10922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0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확인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25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6692900" y="5219700"/>
            <a:ext cx="4889500" cy="37084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27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6692900" y="3848100"/>
            <a:ext cx="4889500" cy="1155700"/>
          </a:xfrm>
          <a:prstGeom prst="rect">
            <a:avLst/>
          </a:prstGeom>
        </p:spPr>
      </p:pic>
      <p:sp>
        <p:nvSpPr>
          <p:cNvPr name="TextBox 34" id="34"/>
          <p:cNvSpPr txBox="true"/>
          <p:nvPr/>
        </p:nvSpPr>
        <p:spPr>
          <a:xfrm rot="0">
            <a:off x="8013700" y="3987800"/>
            <a:ext cx="2247900" cy="685800"/>
          </a:xfrm>
          <a:prstGeom prst="rect">
            <a:avLst/>
          </a:prstGeom>
        </p:spPr>
        <p:txBody>
          <a:bodyPr anchor="t" rtlCol="false" lIns="0" tIns="35560" rIns="0" bIns="0"/>
          <a:lstStyle/>
          <a:p>
            <a:pPr algn="ctr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Paid Use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921500" y="4483100"/>
            <a:ext cx="44323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2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반복 사용과 결제</a:t>
            </a:r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7061200" y="7061200"/>
            <a:ext cx="4140200" cy="25400"/>
          </a:xfrm>
          <a:prstGeom prst="rect">
            <a:avLst/>
          </a:prstGeom>
        </p:spPr>
      </p:pic>
      <p:sp>
        <p:nvSpPr>
          <p:cNvPr name="TextBox 37" id="37"/>
          <p:cNvSpPr txBox="true"/>
          <p:nvPr/>
        </p:nvSpPr>
        <p:spPr>
          <a:xfrm rot="0">
            <a:off x="7289800" y="6172200"/>
            <a:ext cx="36957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다음 곡의 재사용 가치 확인</a:t>
            </a:r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8623300" y="5562600"/>
            <a:ext cx="1016000" cy="4445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8585200" y="5588000"/>
            <a:ext cx="10922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0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조건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807200" y="7988300"/>
            <a:ext cx="4660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지원·재시도를 포함해 원가 측정</a:t>
            </a:r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8623300" y="7366000"/>
            <a:ext cx="1016000" cy="444500"/>
          </a:xfrm>
          <a:prstGeom prst="rect">
            <a:avLst/>
          </a:prstGeom>
        </p:spPr>
      </p:pic>
      <p:sp>
        <p:nvSpPr>
          <p:cNvPr name="TextBox 42" id="42"/>
          <p:cNvSpPr txBox="true"/>
          <p:nvPr/>
        </p:nvSpPr>
        <p:spPr>
          <a:xfrm rot="0">
            <a:off x="8585200" y="7404100"/>
            <a:ext cx="10922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0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확인</a:t>
            </a:r>
          </a:p>
        </p:txBody>
      </p:sp>
      <p:pic>
        <p:nvPicPr>
          <p:cNvPr name="Picture 43" id="43"/>
          <p:cNvPicPr>
            <a:picLocks noChangeAspect="true"/>
          </p:cNvPicPr>
          <p:nvPr/>
        </p:nvPicPr>
        <p:blipFill>
          <a:blip r:embed="rId31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1760200" y="4432300"/>
            <a:ext cx="76200" cy="762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13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1836400" y="4432300"/>
            <a:ext cx="76200" cy="762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1925300" y="4432300"/>
            <a:ext cx="76200" cy="762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15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11760200" y="7061200"/>
            <a:ext cx="76200" cy="762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15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11836400" y="7061200"/>
            <a:ext cx="76200" cy="762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11925300" y="7061200"/>
            <a:ext cx="76200" cy="762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3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0">
            <a:off x="12204700" y="5219700"/>
            <a:ext cx="4889500" cy="37084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3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 rot="0">
            <a:off x="12204700" y="3848100"/>
            <a:ext cx="4889500" cy="1155700"/>
          </a:xfrm>
          <a:prstGeom prst="rect">
            <a:avLst/>
          </a:prstGeom>
        </p:spPr>
      </p:pic>
      <p:sp>
        <p:nvSpPr>
          <p:cNvPr name="TextBox 51" id="51"/>
          <p:cNvSpPr txBox="true"/>
          <p:nvPr/>
        </p:nvSpPr>
        <p:spPr>
          <a:xfrm rot="0">
            <a:off x="13525500" y="3987800"/>
            <a:ext cx="2247900" cy="685800"/>
          </a:xfrm>
          <a:prstGeom prst="rect">
            <a:avLst/>
          </a:prstGeom>
        </p:spPr>
        <p:txBody>
          <a:bodyPr anchor="t" rtlCol="false" lIns="0" tIns="35560" rIns="0" bIns="0"/>
          <a:lstStyle/>
          <a:p>
            <a:pPr algn="ctr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Expand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433300" y="4483100"/>
            <a:ext cx="44323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200" b="fals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권리 데이터와 평가셋 확보</a:t>
            </a:r>
          </a:p>
        </p:txBody>
      </p:sp>
      <p:pic>
        <p:nvPicPr>
          <p:cNvPr name="Picture 53" id="53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 rot="0">
            <a:off x="12573000" y="7061200"/>
            <a:ext cx="4140200" cy="25400"/>
          </a:xfrm>
          <a:prstGeom prst="rect">
            <a:avLst/>
          </a:prstGeom>
        </p:spPr>
      </p:pic>
      <p:sp>
        <p:nvSpPr>
          <p:cNvPr name="TextBox 54" id="54"/>
          <p:cNvSpPr txBox="true"/>
          <p:nvPr/>
        </p:nvSpPr>
        <p:spPr>
          <a:xfrm rot="0">
            <a:off x="12801600" y="6172200"/>
            <a:ext cx="36957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기준 모델 대비 품질·비용 검증</a:t>
            </a:r>
          </a:p>
        </p:txBody>
      </p:sp>
      <p:pic>
        <p:nvPicPr>
          <p:cNvPr name="Picture 55" id="55"/>
          <p:cNvPicPr>
            <a:picLocks noChangeAspect="true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14135100" y="5562600"/>
            <a:ext cx="1016000" cy="444500"/>
          </a:xfrm>
          <a:prstGeom prst="rect">
            <a:avLst/>
          </a:prstGeom>
        </p:spPr>
      </p:pic>
      <p:sp>
        <p:nvSpPr>
          <p:cNvPr name="TextBox 56" id="56"/>
          <p:cNvSpPr txBox="true"/>
          <p:nvPr/>
        </p:nvSpPr>
        <p:spPr>
          <a:xfrm rot="0">
            <a:off x="14097000" y="5588000"/>
            <a:ext cx="10922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0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조건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319000" y="7962900"/>
            <a:ext cx="4660900" cy="927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인접 제작 → AI 협업시장
모델 특화 후 확장 (장기 구상)</a:t>
            </a:r>
          </a:p>
        </p:txBody>
      </p:sp>
      <p:pic>
        <p:nvPicPr>
          <p:cNvPr name="Picture 58" id="58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14135100" y="7366000"/>
            <a:ext cx="1016000" cy="444500"/>
          </a:xfrm>
          <a:prstGeom prst="rect">
            <a:avLst/>
          </a:prstGeom>
        </p:spPr>
      </p:pic>
      <p:sp>
        <p:nvSpPr>
          <p:cNvPr name="TextBox 59" id="59"/>
          <p:cNvSpPr txBox="true"/>
          <p:nvPr/>
        </p:nvSpPr>
        <p:spPr>
          <a:xfrm rot="0">
            <a:off x="14097000" y="7404100"/>
            <a:ext cx="1092200" cy="38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8650"/>
              </a:lnSpc>
            </a:pPr>
            <a:r>
              <a:rPr lang="en-US" sz="20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확인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168400" y="5422900"/>
            <a:ext cx="6350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219200" y="5473700"/>
            <a:ext cx="558800" cy="558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Founder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8400" y="2476500"/>
            <a:ext cx="6426200" cy="27051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데이터와 제품을
연결하는
이성민 대표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8400" y="6438900"/>
            <a:ext cx="6134100" cy="1270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200" b="false" i="false" u="none" strike="noStrike" spc="-2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현재 데이터엔지니어 · 1인 창업
제품 개발과 초기 고객 검증 총괄
국가공인 네트워크관리사 2급 보유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320800" y="8229600"/>
            <a:ext cx="1320800" cy="4445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384300" y="8229600"/>
            <a:ext cx="1181100" cy="4445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ctr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# DATA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5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2933700" y="8229600"/>
            <a:ext cx="1701800" cy="4445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2997200" y="8229600"/>
            <a:ext cx="1562100" cy="4445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ctr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# PRODUCT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7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4737100" y="8216900"/>
            <a:ext cx="1689100" cy="4445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4800600" y="8216900"/>
            <a:ext cx="1549400" cy="4445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ctr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# VALIDATE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9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8940800" y="2578100"/>
            <a:ext cx="8216900" cy="26924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1938000" y="2971800"/>
            <a:ext cx="2222500" cy="508000"/>
          </a:xfrm>
          <a:prstGeom prst="rect">
            <a:avLst/>
          </a:prstGeom>
        </p:spPr>
        <p:txBody>
          <a:bodyPr anchor="t" rtlCol="false" lIns="0" tIns="25254" rIns="0" bIns="0"/>
          <a:lstStyle/>
          <a:p>
            <a:pPr algn="ctr" lvl="0">
              <a:lnSpc>
                <a:spcPct val="99600"/>
              </a:lnSpc>
            </a:pPr>
            <a:r>
              <a:rPr lang="en-US" sz="1988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Profile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66300" y="3797300"/>
            <a:ext cx="6553200" cy="1384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RealizeSoft · 현실화하는소프트
경복대학교 소프트웨어융합학과
한화 포탈 데이터 엔지니어링 경험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21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2928600" y="3530600"/>
            <a:ext cx="76200" cy="76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1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3017500" y="3530600"/>
            <a:ext cx="76200" cy="76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3093700" y="3530600"/>
            <a:ext cx="76200" cy="76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9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8940800" y="5664200"/>
            <a:ext cx="8216900" cy="26924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1938000" y="6045200"/>
            <a:ext cx="2222500" cy="508000"/>
          </a:xfrm>
          <a:prstGeom prst="rect">
            <a:avLst/>
          </a:prstGeom>
        </p:spPr>
        <p:txBody>
          <a:bodyPr anchor="t" rtlCol="false" lIns="0" tIns="25254" rIns="0" bIns="0"/>
          <a:lstStyle/>
          <a:p>
            <a:pPr algn="ctr" lvl="0">
              <a:lnSpc>
                <a:spcPct val="99600"/>
              </a:lnSpc>
            </a:pPr>
            <a:r>
              <a:rPr lang="en-US" sz="1988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Awards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79000" y="6870700"/>
            <a:ext cx="6553200" cy="1270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199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2026 U300 Academy 대상 / 한국연구재단 이사장상
경기북동부 청년창업챌린지 IR 데모데이 기술상
경기도경제과학진흥원장상 · RealizeSoft 팀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21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2928600" y="6604000"/>
            <a:ext cx="76200" cy="76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1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3017500" y="6604000"/>
            <a:ext cx="76200" cy="76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3093700" y="6604000"/>
            <a:ext cx="762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2153900" y="4762500"/>
            <a:ext cx="5003800" cy="408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>
            <a:off x="6642100" y="4787900"/>
            <a:ext cx="5003800" cy="4089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68400" y="1612900"/>
            <a:ext cx="7061200" cy="18288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실제 제작자의
반복 사용을 확인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1168400" y="3695700"/>
            <a:ext cx="635000" cy="635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219200" y="3746500"/>
            <a:ext cx="558800" cy="558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6">
            <a:alphaModFix amt="47000"/>
          </a:blip>
          <a:stretch>
            <a:fillRect/>
          </a:stretch>
        </p:blipFill>
        <p:spPr>
          <a:xfrm rot="0">
            <a:off x="9817100" y="4965700"/>
            <a:ext cx="1612900" cy="161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7">
            <a:alphaModFix amt="47000"/>
          </a:blip>
          <a:stretch>
            <a:fillRect/>
          </a:stretch>
        </p:blipFill>
        <p:spPr>
          <a:xfrm rot="0">
            <a:off x="15316200" y="4940300"/>
            <a:ext cx="1612900" cy="1612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Next Step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17000" y="1739900"/>
            <a:ext cx="5575300" cy="1155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000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필요한 연결: 초기 제작자 · 영상 실무 피드백 · 사업화/기술 멘토링
지원·투자 요청 금액 미확정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1130300" y="4787900"/>
            <a:ext cx="5003800" cy="4089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>
            <a:alphaModFix amt="47000"/>
          </a:blip>
          <a:stretch>
            <a:fillRect/>
          </a:stretch>
        </p:blipFill>
        <p:spPr>
          <a:xfrm rot="0">
            <a:off x="4318000" y="4965700"/>
            <a:ext cx="1600200" cy="16002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511300" y="7289800"/>
            <a:ext cx="44577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모델 연결·출력·복구의 전체 흐름 검증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38300" y="6705600"/>
            <a:ext cx="16256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제품 완결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150100" y="7289800"/>
            <a:ext cx="42037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제작자 인터뷰·작업 관찰·품질 평가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50100" y="6705600"/>
            <a:ext cx="16256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고객 검증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34900" y="7277100"/>
            <a:ext cx="44323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생성 청구·재시도·저장·지원 비용 기록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49200" y="6692900"/>
            <a:ext cx="16256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비용 검증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8400" y="1625600"/>
            <a:ext cx="6578600" cy="736600"/>
          </a:xfrm>
          <a:prstGeom prst="rect">
            <a:avLst/>
          </a:prstGeom>
        </p:spPr>
        <p:txBody>
          <a:bodyPr anchor="t" rtlCol="false" lIns="0" tIns="17780" rIns="0" bIns="0"/>
          <a:lstStyle/>
          <a:p>
            <a:pPr algn="l" lvl="0">
              <a:lnSpc>
                <a:spcPct val="110390"/>
              </a:lnSpc>
            </a:pPr>
            <a:r>
              <a:rPr lang="en-US" sz="4000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비동기 영상 생성과 완료 검증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Async Detail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17000" y="1739900"/>
            <a:ext cx="4914900" cy="762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000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향후 도입 검토 · 업로드 알림과
완료 판정 분리 · 검증 후 합성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5689600" y="2654300"/>
            <a:ext cx="635000" cy="635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5727700" y="2692400"/>
            <a:ext cx="558800" cy="558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-12700" y="2654300"/>
            <a:ext cx="18110200" cy="7188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0782300" y="7251700"/>
            <a:ext cx="6438900" cy="1193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0782300" y="5892800"/>
            <a:ext cx="6438900" cy="1193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0782300" y="4559300"/>
            <a:ext cx="6438900" cy="1193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10782300" y="3213100"/>
            <a:ext cx="6438900" cy="1193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0782300" y="2209800"/>
            <a:ext cx="6438900" cy="74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9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8013700" y="2209800"/>
            <a:ext cx="2273300" cy="7493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6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Team Plan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8400" y="6438900"/>
            <a:ext cx="5575300" cy="1155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000" b="false" i="false" u="none" strike="noStrike" spc="-1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국가공인 네트워크관리사 2급 보유. AI프러덕션
기획자 1급·Databricks Professional은 본인
제공 표기; 공식 표기 확인 전. 채용 확정 아님.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1168400" y="5422900"/>
            <a:ext cx="635000" cy="635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>
            <a:off x="1219200" y="5473700"/>
            <a:ext cx="558800" cy="5588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168400" y="2476500"/>
            <a:ext cx="5880100" cy="27051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현재 대표 1인,</a:t>
            </a:r>
          </a:p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단계에 맞춰</a:t>
            </a:r>
          </a:p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역량을 보강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15300" y="2209800"/>
            <a:ext cx="2070100" cy="749300"/>
          </a:xfrm>
          <a:prstGeom prst="rect">
            <a:avLst/>
          </a:prstGeom>
        </p:spPr>
        <p:txBody>
          <a:bodyPr anchor="ctr" rtlCol="false" lIns="0" tIns="25400" rIns="0" bIns="2540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Roles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72800" y="2209800"/>
            <a:ext cx="6057900" cy="749300"/>
          </a:xfrm>
          <a:prstGeom prst="rect">
            <a:avLst/>
          </a:prstGeom>
        </p:spPr>
        <p:txBody>
          <a:bodyPr anchor="ctr" rtlCol="false" lIns="0" tIns="25400" rIns="0" bIns="2540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Capabilities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22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0388600" y="2565400"/>
            <a:ext cx="76200" cy="76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2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0477500" y="2565400"/>
            <a:ext cx="76200" cy="76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0553700" y="2565400"/>
            <a:ext cx="76200" cy="76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8026400" y="3213100"/>
            <a:ext cx="2247900" cy="11938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1125200" y="3632200"/>
            <a:ext cx="57531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데이터·제품 개발·고객 검증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102600" y="3594100"/>
            <a:ext cx="20828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19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대표 역량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26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388600" y="3771900"/>
            <a:ext cx="76200" cy="762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6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477500" y="3771900"/>
            <a:ext cx="76200" cy="76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553700" y="3771900"/>
            <a:ext cx="76200" cy="76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4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8026400" y="4559300"/>
            <a:ext cx="2247900" cy="1193800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11125200" y="4978400"/>
            <a:ext cx="57531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제작 품질과 실제 사용자 평가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102600" y="4940300"/>
            <a:ext cx="20828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19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영상·UX</a:t>
            </a:r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26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388600" y="5118100"/>
            <a:ext cx="76200" cy="762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6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477500" y="5118100"/>
            <a:ext cx="76200" cy="762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553700" y="5118100"/>
            <a:ext cx="76200" cy="762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9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8026400" y="5905500"/>
            <a:ext cx="2247900" cy="1193800"/>
          </a:xfrm>
          <a:prstGeom prst="rect">
            <a:avLst/>
          </a:prstGeom>
        </p:spPr>
      </p:pic>
      <p:sp>
        <p:nvSpPr>
          <p:cNvPr name="TextBox 39" id="39"/>
          <p:cNvSpPr txBox="true"/>
          <p:nvPr/>
        </p:nvSpPr>
        <p:spPr>
          <a:xfrm rot="0">
            <a:off x="11125200" y="6324600"/>
            <a:ext cx="57531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반복 사용·유료 전환·운영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102600" y="6286500"/>
            <a:ext cx="20828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19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고객·사업</a:t>
            </a:r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26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388600" y="6464300"/>
            <a:ext cx="76200" cy="762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6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477500" y="6464300"/>
            <a:ext cx="76200" cy="762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553700" y="6464300"/>
            <a:ext cx="76200" cy="762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31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8026400" y="7251700"/>
            <a:ext cx="2247900" cy="1193800"/>
          </a:xfrm>
          <a:prstGeom prst="rect">
            <a:avLst/>
          </a:prstGeom>
        </p:spPr>
      </p:pic>
      <p:sp>
        <p:nvSpPr>
          <p:cNvPr name="TextBox 45" id="45"/>
          <p:cNvSpPr txBox="true"/>
          <p:nvPr/>
        </p:nvSpPr>
        <p:spPr>
          <a:xfrm rot="0">
            <a:off x="11125200" y="7670800"/>
            <a:ext cx="5753100" cy="482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6950"/>
              </a:lnSpc>
            </a:pPr>
            <a:r>
              <a:rPr lang="en-US" sz="26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권리 데이터·평가·모델 특화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102600" y="7632700"/>
            <a:ext cx="2082800" cy="41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199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ML·MLOps</a:t>
            </a:r>
          </a:p>
        </p:txBody>
      </p:sp>
      <p:pic>
        <p:nvPicPr>
          <p:cNvPr name="Picture 47" id="47"/>
          <p:cNvPicPr>
            <a:picLocks noChangeAspect="true"/>
          </p:cNvPicPr>
          <p:nvPr/>
        </p:nvPicPr>
        <p:blipFill>
          <a:blip r:embed="rId26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388600" y="7810500"/>
            <a:ext cx="76200" cy="762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26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477500" y="7810500"/>
            <a:ext cx="76200" cy="762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553700" y="7810500"/>
            <a:ext cx="762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65400" y="457200"/>
            <a:ext cx="2616200" cy="368300"/>
          </a:xfrm>
          <a:prstGeom prst="rect">
            <a:avLst/>
          </a:prstGeom>
        </p:spPr>
        <p:txBody>
          <a:bodyPr anchor="t" rtlCol="false" lIns="0" tIns="1905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Aethon IR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7100" y="431800"/>
            <a:ext cx="1663700" cy="406400"/>
          </a:xfrm>
          <a:prstGeom prst="rect">
            <a:avLst/>
          </a:prstGeom>
        </p:spPr>
        <p:txBody>
          <a:bodyPr anchor="t" rtlCol="false" lIns="0" tIns="18858" rIns="0" bIns="0"/>
          <a:lstStyle/>
          <a:p>
            <a:pPr algn="l" lvl="0">
              <a:lnSpc>
                <a:spcPct val="99600"/>
              </a:lnSpc>
            </a:pPr>
            <a:r>
              <a:rPr lang="en-US" sz="1484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AETHON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168400" y="5422900"/>
            <a:ext cx="635000" cy="635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219200" y="5473700"/>
            <a:ext cx="558800" cy="558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8458200" y="9563100"/>
            <a:ext cx="139700" cy="139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8763000" y="9563100"/>
            <a:ext cx="139700" cy="13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9067800" y="9563100"/>
            <a:ext cx="139700" cy="139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9372600" y="9563100"/>
            <a:ext cx="139700" cy="139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9690100" y="9563100"/>
            <a:ext cx="1397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7251700" y="381000"/>
            <a:ext cx="3784600" cy="5207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7454900" y="381000"/>
            <a:ext cx="3390900" cy="520700"/>
          </a:xfrm>
          <a:prstGeom prst="rect">
            <a:avLst/>
          </a:prstGeom>
        </p:spPr>
        <p:txBody>
          <a:bodyPr anchor="ctr" rtlCol="false" lIns="0" tIns="20320" rIns="0" bIns="20320"/>
          <a:lstStyle/>
          <a:p>
            <a:pPr algn="ctr" lvl="0">
              <a:lnSpc>
                <a:spcPct val="99600"/>
              </a:lnSpc>
            </a:pPr>
            <a:r>
              <a:rPr lang="en-US" sz="1599" b="false" i="false" u="none" strike="noStrike">
                <a:solidFill>
                  <a:srgbClr val="000000"/>
                </a:solidFill>
                <a:latin typeface="LINE Seed Sans TH Regular"/>
                <a:ea typeface="LINE Seed Sans TH Regular"/>
                <a:cs typeface="LINE Seed Sans TH Regular"/>
              </a:rPr>
              <a:t>References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68400" y="2476500"/>
            <a:ext cx="6426200" cy="2705100"/>
          </a:xfrm>
          <a:prstGeom prst="rect">
            <a:avLst/>
          </a:prstGeom>
        </p:spPr>
        <p:txBody>
          <a:bodyPr anchor="t" rtlCol="false" lIns="0" tIns="23114" rIns="0" bIns="0"/>
          <a:lstStyle/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숫자와 주장,</a:t>
            </a:r>
          </a:p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구현 상태의</a:t>
            </a:r>
          </a:p>
          <a:p>
            <a:pPr algn="l" lvl="0">
              <a:lnSpc>
                <a:spcPct val="110390"/>
              </a:lnSpc>
            </a:pPr>
            <a:r>
              <a:rPr lang="en-US" sz="5199" b="false" i="false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출처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8400" y="6438900"/>
            <a:ext cx="6134100" cy="838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6160"/>
              </a:lnSpc>
            </a:pPr>
            <a:r>
              <a:rPr lang="en-US" sz="2200" b="false" i="false" u="none" strike="noStrike" spc="-200">
                <a:solidFill>
                  <a:srgbClr val="4B5563"/>
                </a:solidFill>
                <a:latin typeface="Pretendard Light"/>
                <a:ea typeface="Pretendard Light"/>
                <a:cs typeface="Pretendard Light"/>
              </a:rPr>
              <a:t>외부 통계는 자사 실적이 아닙니다.
시장금액과 가격은 미산정·미확정입니다.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206500" y="8229600"/>
            <a:ext cx="1549400" cy="4445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270000" y="8229600"/>
            <a:ext cx="1409700" cy="4445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ctr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# SOURCE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5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3162300" y="8229600"/>
            <a:ext cx="1219200" cy="4445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3238500" y="8229600"/>
            <a:ext cx="1092200" cy="4445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ctr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# TEST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7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4953000" y="8216900"/>
            <a:ext cx="1244600" cy="4445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5016500" y="8216900"/>
            <a:ext cx="1117600" cy="444500"/>
          </a:xfrm>
          <a:prstGeom prst="rect">
            <a:avLst/>
          </a:prstGeom>
        </p:spPr>
        <p:txBody>
          <a:bodyPr anchor="ctr" rtlCol="false" lIns="0" tIns="19050" rIns="0" bIns="19050"/>
          <a:lstStyle/>
          <a:p>
            <a:pPr algn="ctr" lvl="0">
              <a:lnSpc>
                <a:spcPct val="99600"/>
              </a:lnSpc>
            </a:pPr>
            <a:r>
              <a:rPr lang="en-US" sz="15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# PLAN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9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8940800" y="2578100"/>
            <a:ext cx="8216900" cy="26924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1925300" y="2971800"/>
            <a:ext cx="2247900" cy="622300"/>
          </a:xfrm>
          <a:prstGeom prst="rect">
            <a:avLst/>
          </a:prstGeom>
        </p:spPr>
        <p:txBody>
          <a:bodyPr anchor="t" rtlCol="false" lIns="0" tIns="33020" rIns="0" bIns="0"/>
          <a:lstStyle/>
          <a:p>
            <a:pPr algn="ctr" lvl="0">
              <a:lnSpc>
                <a:spcPct val="99600"/>
              </a:lnSpc>
            </a:pPr>
            <a:r>
              <a:rPr lang="en-US" sz="26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Market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66300" y="3784600"/>
            <a:ext cx="6553200" cy="1384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YouTube Culture &amp; Trends: 2024 표본
KOCCA: 2025 대중음악 매출
밍글스튜디오: 예상 견적·VAT 별도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21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2928600" y="3530600"/>
            <a:ext cx="76200" cy="76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1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3017500" y="3530600"/>
            <a:ext cx="76200" cy="76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3093700" y="3530600"/>
            <a:ext cx="76200" cy="76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9">
            <a:alphaModFix amt="5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8940800" y="5664200"/>
            <a:ext cx="8216900" cy="26924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11938000" y="6045200"/>
            <a:ext cx="2235200" cy="596900"/>
          </a:xfrm>
          <a:prstGeom prst="rect">
            <a:avLst/>
          </a:prstGeom>
        </p:spPr>
        <p:txBody>
          <a:bodyPr anchor="t" rtlCol="false" lIns="0" tIns="3048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LINE Seed Sans TH Bold"/>
                <a:ea typeface="LINE Seed Sans TH Bold"/>
                <a:cs typeface="LINE Seed Sans TH Bold"/>
              </a:rPr>
              <a:t>Evidence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66300" y="6870700"/>
            <a:ext cx="6553200" cy="1384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616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에덴월드·스텔라이브 공개 사례
Aethon 저장소·QA(2026.10.27)
경복대학교 RealizeSoft 수상 보도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21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2928600" y="6604000"/>
            <a:ext cx="76200" cy="76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1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3017500" y="6604000"/>
            <a:ext cx="76200" cy="76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3093700" y="6604000"/>
            <a:ext cx="76200" cy="7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