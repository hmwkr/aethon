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INE Seed Sans TH Bold"/>
      <p:bold r:id="rId25"/>
    </p:embeddedFont>
    <p:embeddedFont>
      <p:font typeface="LINE Seed Sans TH Regular"/>
      <p:regular r:id="rId26"/>
    </p:embeddedFont>
    <p:embeddedFont>
      <p:font typeface="Pretendard Light"/>
      <p:regular r:id="rId27"/>
    </p:embeddedFont>
    <p:embeddedFont>
      <p:font typeface="Pretendard Medium"/>
      <p:bold r:id="rId28"/>
    </p:embeddedFont>
    <p:embeddedFont>
      <p:font typeface="Pretendard Regular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26" Target="fonts/font2.fntdata" Type="http://schemas.openxmlformats.org/officeDocument/2006/relationships/font"/><Relationship Id="rId27" Target="fonts/font3.fntdata" Type="http://schemas.openxmlformats.org/officeDocument/2006/relationships/font"/><Relationship Id="rId28" Target="fonts/font4.fntdata" Type="http://schemas.openxmlformats.org/officeDocument/2006/relationships/font"/><Relationship Id="rId29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22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21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svg" Type="http://schemas.openxmlformats.org/officeDocument/2006/relationships/image"/><Relationship Id="rId16" Target="../media/image32.png" Type="http://schemas.openxmlformats.org/officeDocument/2006/relationships/image"/><Relationship Id="rId17" Target="../media/image16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23.png" Type="http://schemas.openxmlformats.org/officeDocument/2006/relationships/image"/><Relationship Id="rId20" Target="../media/image8.png" Type="http://schemas.openxmlformats.org/officeDocument/2006/relationships/image"/><Relationship Id="rId21" Target="../media/image9.svg" Type="http://schemas.openxmlformats.org/officeDocument/2006/relationships/image"/><Relationship Id="rId22" Target="../media/image35.png" Type="http://schemas.openxmlformats.org/officeDocument/2006/relationships/image"/><Relationship Id="rId23" Target="../media/image36.svg" Type="http://schemas.openxmlformats.org/officeDocument/2006/relationships/image"/><Relationship Id="rId24" Target="../media/image37.png" Type="http://schemas.openxmlformats.org/officeDocument/2006/relationships/image"/><Relationship Id="rId25" Target="../media/image38.svg" Type="http://schemas.openxmlformats.org/officeDocument/2006/relationships/image"/><Relationship Id="rId26" Target="../media/image39.png" Type="http://schemas.openxmlformats.org/officeDocument/2006/relationships/image"/><Relationship Id="rId27" Target="../media/image40.svg" Type="http://schemas.openxmlformats.org/officeDocument/2006/relationships/image"/><Relationship Id="rId28" Target="../media/image41.svg" Type="http://schemas.openxmlformats.org/officeDocument/2006/relationships/image"/><Relationship Id="rId29" Target="../media/image42.png" Type="http://schemas.openxmlformats.org/officeDocument/2006/relationships/image"/><Relationship Id="rId3" Target="../media/image24.svg" Type="http://schemas.openxmlformats.org/officeDocument/2006/relationships/image"/><Relationship Id="rId30" Target="../media/image43.svg" Type="http://schemas.openxmlformats.org/officeDocument/2006/relationships/image"/><Relationship Id="rId31" Target="../media/image44.png" Type="http://schemas.openxmlformats.org/officeDocument/2006/relationships/image"/><Relationship Id="rId32" Target="../media/image45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svg" Type="http://schemas.openxmlformats.org/officeDocument/2006/relationships/image"/><Relationship Id="rId13" Target="../media/image48.png" Type="http://schemas.openxmlformats.org/officeDocument/2006/relationships/image"/><Relationship Id="rId2" Target="../media/image46.png" Type="http://schemas.openxmlformats.org/officeDocument/2006/relationships/image"/><Relationship Id="rId3" Target="../media/image16.svg" Type="http://schemas.openxmlformats.org/officeDocument/2006/relationships/image"/><Relationship Id="rId4" Target="../media/image47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50.png" Type="http://schemas.openxmlformats.org/officeDocument/2006/relationships/image"/><Relationship Id="rId14" Target="../media/image14.svg" Type="http://schemas.openxmlformats.org/officeDocument/2006/relationships/image"/><Relationship Id="rId15" Target="../media/image51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5.svg" Type="http://schemas.openxmlformats.org/officeDocument/2006/relationships/image"/><Relationship Id="rId5" Target="../media/image49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5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2.png" Type="http://schemas.openxmlformats.org/officeDocument/2006/relationships/image"/><Relationship Id="rId2" Target="../media/image52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53.png" Type="http://schemas.openxmlformats.org/officeDocument/2006/relationships/image"/><Relationship Id="rId5" Target="../media/image5.svg" Type="http://schemas.openxmlformats.org/officeDocument/2006/relationships/image"/><Relationship Id="rId6" Target="../media/image54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59.png" Type="http://schemas.openxmlformats.org/officeDocument/2006/relationships/image"/><Relationship Id="rId16" Target="../media/image16.svg" Type="http://schemas.openxmlformats.org/officeDocument/2006/relationships/image"/><Relationship Id="rId17" Target="../media/image60.png" Type="http://schemas.openxmlformats.org/officeDocument/2006/relationships/image"/><Relationship Id="rId18" Target="../media/image61.svg" Type="http://schemas.openxmlformats.org/officeDocument/2006/relationships/image"/><Relationship Id="rId19" Target="../media/image62.png" Type="http://schemas.openxmlformats.org/officeDocument/2006/relationships/image"/><Relationship Id="rId2" Target="../media/image56.png" Type="http://schemas.openxmlformats.org/officeDocument/2006/relationships/image"/><Relationship Id="rId20" Target="../media/image63.svg" Type="http://schemas.openxmlformats.org/officeDocument/2006/relationships/image"/><Relationship Id="rId21" Target="../media/image64.png" Type="http://schemas.openxmlformats.org/officeDocument/2006/relationships/image"/><Relationship Id="rId22" Target="../media/image65.svg" Type="http://schemas.openxmlformats.org/officeDocument/2006/relationships/image"/><Relationship Id="rId23" Target="../media/image66.png" Type="http://schemas.openxmlformats.org/officeDocument/2006/relationships/image"/><Relationship Id="rId24" Target="../media/image67.png" Type="http://schemas.openxmlformats.org/officeDocument/2006/relationships/image"/><Relationship Id="rId25" Target="../media/image68.svg" Type="http://schemas.openxmlformats.org/officeDocument/2006/relationships/image"/><Relationship Id="rId26" Target="../media/image69.png" Type="http://schemas.openxmlformats.org/officeDocument/2006/relationships/image"/><Relationship Id="rId27" Target="../media/image70.svg" Type="http://schemas.openxmlformats.org/officeDocument/2006/relationships/image"/><Relationship Id="rId28" Target="../media/image71.png" Type="http://schemas.openxmlformats.org/officeDocument/2006/relationships/image"/><Relationship Id="rId29" Target="../media/image72.svg" Type="http://schemas.openxmlformats.org/officeDocument/2006/relationships/image"/><Relationship Id="rId3" Target="../media/image57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58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73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34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83.png" Type="http://schemas.openxmlformats.org/officeDocument/2006/relationships/image"/><Relationship Id="rId15" Target="../media/image84.sv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18" Target="../media/image12.png" Type="http://schemas.openxmlformats.org/officeDocument/2006/relationships/image"/><Relationship Id="rId19" Target="../media/image13.svg" Type="http://schemas.openxmlformats.org/officeDocument/2006/relationships/image"/><Relationship Id="rId2" Target="../media/image75.png" Type="http://schemas.openxmlformats.org/officeDocument/2006/relationships/image"/><Relationship Id="rId20" Target="../media/image14.svg" Type="http://schemas.openxmlformats.org/officeDocument/2006/relationships/image"/><Relationship Id="rId21" Target="../media/image85.png" Type="http://schemas.openxmlformats.org/officeDocument/2006/relationships/image"/><Relationship Id="rId22" Target="../media/image86.svg" Type="http://schemas.openxmlformats.org/officeDocument/2006/relationships/image"/><Relationship Id="rId23" Target="../media/image87.png" Type="http://schemas.openxmlformats.org/officeDocument/2006/relationships/image"/><Relationship Id="rId24" Target="../media/image88.svg" Type="http://schemas.openxmlformats.org/officeDocument/2006/relationships/image"/><Relationship Id="rId25" Target="../media/image89.png" Type="http://schemas.openxmlformats.org/officeDocument/2006/relationships/image"/><Relationship Id="rId26" Target="../media/image90.png" Type="http://schemas.openxmlformats.org/officeDocument/2006/relationships/image"/><Relationship Id="rId27" Target="../media/image91.svg" Type="http://schemas.openxmlformats.org/officeDocument/2006/relationships/image"/><Relationship Id="rId28" Target="../media/image92.png" Type="http://schemas.openxmlformats.org/officeDocument/2006/relationships/image"/><Relationship Id="rId29" Target="../media/image93.png" Type="http://schemas.openxmlformats.org/officeDocument/2006/relationships/image"/><Relationship Id="rId3" Target="../media/image76.svg" Type="http://schemas.openxmlformats.org/officeDocument/2006/relationships/image"/><Relationship Id="rId30" Target="../media/image94.svg" Type="http://schemas.openxmlformats.org/officeDocument/2006/relationships/image"/><Relationship Id="rId31" Target="../media/image95.png" Type="http://schemas.openxmlformats.org/officeDocument/2006/relationships/image"/><Relationship Id="rId32" Target="../media/image96.svg" Type="http://schemas.openxmlformats.org/officeDocument/2006/relationships/image"/><Relationship Id="rId33" Target="../media/image97.png" Type="http://schemas.openxmlformats.org/officeDocument/2006/relationships/image"/><Relationship Id="rId34" Target="../media/image98.png" Type="http://schemas.openxmlformats.org/officeDocument/2006/relationships/image"/><Relationship Id="rId35" Target="../media/image99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16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2" Target="../media/image100.png" Type="http://schemas.openxmlformats.org/officeDocument/2006/relationships/image"/><Relationship Id="rId3" Target="../media/image16.svg" Type="http://schemas.openxmlformats.org/officeDocument/2006/relationships/image"/><Relationship Id="rId4" Target="../media/image101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6.svg" Type="http://schemas.openxmlformats.org/officeDocument/2006/relationships/image"/><Relationship Id="rId4" Target="../media/image105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6.png" Type="http://schemas.openxmlformats.org/officeDocument/2006/relationships/image"/><Relationship Id="rId9" Target="../media/image10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39.png" Type="http://schemas.openxmlformats.org/officeDocument/2006/relationships/image"/><Relationship Id="rId16" Target="../media/image40.svg" Type="http://schemas.openxmlformats.org/officeDocument/2006/relationships/image"/><Relationship Id="rId17" Target="../media/image109.png" Type="http://schemas.openxmlformats.org/officeDocument/2006/relationships/image"/><Relationship Id="rId18" Target="../media/image110.svg" Type="http://schemas.openxmlformats.org/officeDocument/2006/relationships/image"/><Relationship Id="rId19" Target="../media/image111.png" Type="http://schemas.openxmlformats.org/officeDocument/2006/relationships/image"/><Relationship Id="rId2" Target="../media/image108.png" Type="http://schemas.openxmlformats.org/officeDocument/2006/relationships/image"/><Relationship Id="rId20" Target="../media/image112.svg" Type="http://schemas.openxmlformats.org/officeDocument/2006/relationships/image"/><Relationship Id="rId21" Target="../media/image113.png" Type="http://schemas.openxmlformats.org/officeDocument/2006/relationships/image"/><Relationship Id="rId22" Target="../media/image114.svg" Type="http://schemas.openxmlformats.org/officeDocument/2006/relationships/image"/><Relationship Id="rId23" Target="../media/image115.png" Type="http://schemas.openxmlformats.org/officeDocument/2006/relationships/image"/><Relationship Id="rId24" Target="../media/image116.svg" Type="http://schemas.openxmlformats.org/officeDocument/2006/relationships/image"/><Relationship Id="rId25" Target="../media/image117.png" Type="http://schemas.openxmlformats.org/officeDocument/2006/relationships/image"/><Relationship Id="rId26" Target="../media/image118.svg" Type="http://schemas.openxmlformats.org/officeDocument/2006/relationships/image"/><Relationship Id="rId27" Target="../media/image119.png" Type="http://schemas.openxmlformats.org/officeDocument/2006/relationships/image"/><Relationship Id="rId28" Target="../media/image120.svg" Type="http://schemas.openxmlformats.org/officeDocument/2006/relationships/image"/><Relationship Id="rId29" Target="../media/image121.svg" Type="http://schemas.openxmlformats.org/officeDocument/2006/relationships/image"/><Relationship Id="rId3" Target="../media/image16.svg" Type="http://schemas.openxmlformats.org/officeDocument/2006/relationships/image"/><Relationship Id="rId30" Target="../media/image122.svg" Type="http://schemas.openxmlformats.org/officeDocument/2006/relationships/image"/><Relationship Id="rId31" Target="../media/image123.png" Type="http://schemas.openxmlformats.org/officeDocument/2006/relationships/image"/><Relationship Id="rId32" Target="../media/image124.svg" Type="http://schemas.openxmlformats.org/officeDocument/2006/relationships/image"/><Relationship Id="rId33" Target="../media/image125.png" Type="http://schemas.openxmlformats.org/officeDocument/2006/relationships/image"/><Relationship Id="rId34" Target="../media/image126.svg" Type="http://schemas.openxmlformats.org/officeDocument/2006/relationships/image"/><Relationship Id="rId35" Target="../media/image12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39.png" Type="http://schemas.openxmlformats.org/officeDocument/2006/relationships/image"/><Relationship Id="rId16" Target="../media/image40.svg" Type="http://schemas.openxmlformats.org/officeDocument/2006/relationships/image"/><Relationship Id="rId17" Target="../media/image109.png" Type="http://schemas.openxmlformats.org/officeDocument/2006/relationships/image"/><Relationship Id="rId18" Target="../media/image110.svg" Type="http://schemas.openxmlformats.org/officeDocument/2006/relationships/image"/><Relationship Id="rId19" Target="../media/image130.png" Type="http://schemas.openxmlformats.org/officeDocument/2006/relationships/image"/><Relationship Id="rId2" Target="../media/image128.png" Type="http://schemas.openxmlformats.org/officeDocument/2006/relationships/image"/><Relationship Id="rId20" Target="../media/image112.svg" Type="http://schemas.openxmlformats.org/officeDocument/2006/relationships/image"/><Relationship Id="rId21" Target="../media/image113.png" Type="http://schemas.openxmlformats.org/officeDocument/2006/relationships/image"/><Relationship Id="rId22" Target="../media/image114.svg" Type="http://schemas.openxmlformats.org/officeDocument/2006/relationships/image"/><Relationship Id="rId23" Target="../media/image115.png" Type="http://schemas.openxmlformats.org/officeDocument/2006/relationships/image"/><Relationship Id="rId24" Target="../media/image116.svg" Type="http://schemas.openxmlformats.org/officeDocument/2006/relationships/image"/><Relationship Id="rId25" Target="../media/image118.svg" Type="http://schemas.openxmlformats.org/officeDocument/2006/relationships/image"/><Relationship Id="rId26" Target="../media/image131.png" Type="http://schemas.openxmlformats.org/officeDocument/2006/relationships/image"/><Relationship Id="rId27" Target="../media/image120.svg" Type="http://schemas.openxmlformats.org/officeDocument/2006/relationships/image"/><Relationship Id="rId28" Target="../media/image121.svg" Type="http://schemas.openxmlformats.org/officeDocument/2006/relationships/image"/><Relationship Id="rId29" Target="../media/image132.png" Type="http://schemas.openxmlformats.org/officeDocument/2006/relationships/image"/><Relationship Id="rId3" Target="../media/image16.svg" Type="http://schemas.openxmlformats.org/officeDocument/2006/relationships/image"/><Relationship Id="rId30" Target="../media/image122.svg" Type="http://schemas.openxmlformats.org/officeDocument/2006/relationships/image"/><Relationship Id="rId31" Target="../media/image133.png" Type="http://schemas.openxmlformats.org/officeDocument/2006/relationships/image"/><Relationship Id="rId32" Target="../media/image134.png" Type="http://schemas.openxmlformats.org/officeDocument/2006/relationships/image"/><Relationship Id="rId33" Target="../media/image124.svg" Type="http://schemas.openxmlformats.org/officeDocument/2006/relationships/image"/><Relationship Id="rId34" Target="../media/image135.png" Type="http://schemas.openxmlformats.org/officeDocument/2006/relationships/image"/><Relationship Id="rId35" Target="../media/image126.svg" Type="http://schemas.openxmlformats.org/officeDocument/2006/relationships/image"/><Relationship Id="rId36" Target="../media/image12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1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37.png" Type="http://schemas.openxmlformats.org/officeDocument/2006/relationships/image"/><Relationship Id="rId12" Target="../media/image16.svg" Type="http://schemas.openxmlformats.org/officeDocument/2006/relationships/image"/><Relationship Id="rId13" Target="../media/image138.png" Type="http://schemas.openxmlformats.org/officeDocument/2006/relationships/image"/><Relationship Id="rId14" Target="../media/image139.svg" Type="http://schemas.openxmlformats.org/officeDocument/2006/relationships/image"/><Relationship Id="rId15" Target="../media/image140.png" Type="http://schemas.openxmlformats.org/officeDocument/2006/relationships/image"/><Relationship Id="rId16" Target="../media/image141.svg" Type="http://schemas.openxmlformats.org/officeDocument/2006/relationships/image"/><Relationship Id="rId17" Target="../media/image142.png" Type="http://schemas.openxmlformats.org/officeDocument/2006/relationships/image"/><Relationship Id="rId18" Target="../media/image143.svg" Type="http://schemas.openxmlformats.org/officeDocument/2006/relationships/image"/><Relationship Id="rId19" Target="../media/image144.png" Type="http://schemas.openxmlformats.org/officeDocument/2006/relationships/image"/><Relationship Id="rId2" Target="../media/image136.png" Type="http://schemas.openxmlformats.org/officeDocument/2006/relationships/image"/><Relationship Id="rId20" Target="../media/image145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146.png" Type="http://schemas.openxmlformats.org/officeDocument/2006/relationships/image"/><Relationship Id="rId3" Target="../media/image3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svg" Type="http://schemas.openxmlformats.org/officeDocument/2006/relationships/image"/><Relationship Id="rId14" Target="../media/image147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svg" Type="http://schemas.openxmlformats.org/officeDocument/2006/relationships/image"/><Relationship Id="rId5" Target="../media/image101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8.png" Type="http://schemas.openxmlformats.org/officeDocument/2006/relationships/image"/><Relationship Id="rId3" Target="../media/image16.svg" Type="http://schemas.openxmlformats.org/officeDocument/2006/relationships/image"/><Relationship Id="rId4" Target="../media/image149.png" Type="http://schemas.openxmlformats.org/officeDocument/2006/relationships/image"/><Relationship Id="rId5" Target="../media/image7.svg" Type="http://schemas.openxmlformats.org/officeDocument/2006/relationships/image"/><Relationship Id="rId6" Target="../media/image150.png" Type="http://schemas.openxmlformats.org/officeDocument/2006/relationships/image"/><Relationship Id="rId7" Target="../media/image9.svg" Type="http://schemas.openxmlformats.org/officeDocument/2006/relationships/image"/><Relationship Id="rId8" Target="../media/image151.pn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4.png" Type="http://schemas.openxmlformats.org/officeDocument/2006/relationships/image"/><Relationship Id="rId11" Target="../media/image31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svg" Type="http://schemas.openxmlformats.org/officeDocument/2006/relationships/image"/><Relationship Id="rId17" Target="../media/image155.png" Type="http://schemas.openxmlformats.org/officeDocument/2006/relationships/image"/><Relationship Id="rId18" Target="../media/image16.svg" Type="http://schemas.openxmlformats.org/officeDocument/2006/relationships/image"/><Relationship Id="rId19" Target="../media/image33.png" Type="http://schemas.openxmlformats.org/officeDocument/2006/relationships/image"/><Relationship Id="rId2" Target="../media/image153.png" Type="http://schemas.openxmlformats.org/officeDocument/2006/relationships/image"/><Relationship Id="rId20" Target="../media/image34.svg" Type="http://schemas.openxmlformats.org/officeDocument/2006/relationships/image"/><Relationship Id="rId21" Target="../media/image8.png" Type="http://schemas.openxmlformats.org/officeDocument/2006/relationships/image"/><Relationship Id="rId22" Target="../media/image9.svg" Type="http://schemas.openxmlformats.org/officeDocument/2006/relationships/image"/><Relationship Id="rId23" Target="../media/image35.png" Type="http://schemas.openxmlformats.org/officeDocument/2006/relationships/image"/><Relationship Id="rId24" Target="../media/image36.svg" Type="http://schemas.openxmlformats.org/officeDocument/2006/relationships/image"/><Relationship Id="rId25" Target="../media/image42.png" Type="http://schemas.openxmlformats.org/officeDocument/2006/relationships/image"/><Relationship Id="rId26" Target="../media/image38.svg" Type="http://schemas.openxmlformats.org/officeDocument/2006/relationships/image"/><Relationship Id="rId27" Target="../media/image39.png" Type="http://schemas.openxmlformats.org/officeDocument/2006/relationships/image"/><Relationship Id="rId28" Target="../media/image40.svg" Type="http://schemas.openxmlformats.org/officeDocument/2006/relationships/image"/><Relationship Id="rId29" Target="../media/image37.png" Type="http://schemas.openxmlformats.org/officeDocument/2006/relationships/image"/><Relationship Id="rId3" Target="../media/image24.svg" Type="http://schemas.openxmlformats.org/officeDocument/2006/relationships/image"/><Relationship Id="rId30" Target="../media/image41.svg" Type="http://schemas.openxmlformats.org/officeDocument/2006/relationships/image"/><Relationship Id="rId31" Target="../media/image43.svg" Type="http://schemas.openxmlformats.org/officeDocument/2006/relationships/image"/><Relationship Id="rId32" Target="../media/image45.svg" Type="http://schemas.openxmlformats.org/officeDocument/2006/relationships/image"/><Relationship Id="rId4" Target="../media/image25.png" Type="http://schemas.openxmlformats.org/officeDocument/2006/relationships/image"/><Relationship Id="rId5" Target="../media/image23.png" Type="http://schemas.openxmlformats.org/officeDocument/2006/relationships/image"/><Relationship Id="rId6" Target="../media/image26.sv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7.png" Type="http://schemas.openxmlformats.org/officeDocument/2006/relationships/image"/><Relationship Id="rId12" Target="../media/image16.svg" Type="http://schemas.openxmlformats.org/officeDocument/2006/relationships/image"/><Relationship Id="rId13" Target="../media/image158.png" Type="http://schemas.openxmlformats.org/officeDocument/2006/relationships/image"/><Relationship Id="rId14" Target="../media/image159.svg" Type="http://schemas.openxmlformats.org/officeDocument/2006/relationships/image"/><Relationship Id="rId15" Target="../media/image160.png" Type="http://schemas.openxmlformats.org/officeDocument/2006/relationships/image"/><Relationship Id="rId16" Target="../media/image161.svg" Type="http://schemas.openxmlformats.org/officeDocument/2006/relationships/image"/><Relationship Id="rId17" Target="../media/image162.png" Type="http://schemas.openxmlformats.org/officeDocument/2006/relationships/image"/><Relationship Id="rId18" Target="../media/image163.svg" Type="http://schemas.openxmlformats.org/officeDocument/2006/relationships/image"/><Relationship Id="rId19" Target="../media/image164.png" Type="http://schemas.openxmlformats.org/officeDocument/2006/relationships/image"/><Relationship Id="rId2" Target="../media/image156.png" Type="http://schemas.openxmlformats.org/officeDocument/2006/relationships/image"/><Relationship Id="rId20" Target="../media/image145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144.png" Type="http://schemas.openxmlformats.org/officeDocument/2006/relationships/image"/><Relationship Id="rId3" Target="../media/image3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23500" y="1625600"/>
            <a:ext cx="7442200" cy="7035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3086100"/>
            <a:ext cx="7239000" cy="6985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 캐릭터의 다음 음악영상까지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7721600"/>
            <a:ext cx="2209800" cy="431800"/>
          </a:xfrm>
          <a:prstGeom prst="rect">
            <a:avLst/>
          </a:prstGeom>
        </p:spPr>
        <p:txBody>
          <a:bodyPr anchor="t" rtlCol="false" lIns="0" tIns="21590" rIns="0" bIns="0"/>
          <a:lstStyle/>
          <a:p>
            <a:pPr algn="l" lvl="0">
              <a:lnSpc>
                <a:spcPct val="99600"/>
              </a:lnSpc>
            </a:pPr>
            <a:r>
              <a:rPr lang="en-US" sz="17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REALIZESOFT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8115300"/>
            <a:ext cx="71755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l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AI Music Video Workspace</a:t>
            </a:r>
          </a:p>
        </p:txBody>
      </p:sp>
      <p:sp>
        <p:nvSpPr>
          <p:cNvPr name="TextBox 6" id="6"/>
          <p:cNvSpPr txBox="true"/>
          <p:nvPr/>
        </p:nvSpPr>
        <p:spPr>
          <a:xfrm rot="5400000">
            <a:off x="15989300" y="2273300"/>
            <a:ext cx="3454400" cy="342900"/>
          </a:xfrm>
          <a:prstGeom prst="rect">
            <a:avLst/>
          </a:prstGeom>
        </p:spPr>
        <p:txBody>
          <a:bodyPr anchor="t" rtlCol="false" lIns="0" tIns="16510" rIns="0" bIns="0"/>
          <a:lstStyle/>
          <a:p>
            <a:pPr algn="l" lvl="0">
              <a:lnSpc>
                <a:spcPct val="99600"/>
              </a:lnSpc>
            </a:pPr>
            <a:r>
              <a:rPr lang="en-US" sz="1299" b="false" i="false" u="none" strike="noStrike">
                <a:solidFill>
                  <a:srgbClr val="4B5563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5100" y="3390900"/>
            <a:ext cx="12966700" cy="2654300"/>
          </a:xfrm>
          <a:prstGeom prst="rect">
            <a:avLst/>
          </a:prstGeom>
        </p:spPr>
        <p:txBody>
          <a:bodyPr anchor="t" rtlCol="false" lIns="0" tIns="148590" rIns="0" bIns="0"/>
          <a:lstStyle/>
          <a:p>
            <a:pPr algn="l" lvl="0">
              <a:lnSpc>
                <a:spcPct val="99600"/>
              </a:lnSpc>
            </a:pPr>
            <a:r>
              <a:rPr lang="en-US" sz="11700" b="false" i="false" u="none" strike="noStrike" spc="-300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7800" y="736600"/>
            <a:ext cx="2552700" cy="546100"/>
          </a:xfrm>
          <a:prstGeom prst="rect">
            <a:avLst/>
          </a:prstGeom>
        </p:spPr>
        <p:txBody>
          <a:bodyPr anchor="t" rtlCol="false" lIns="0" tIns="29036" rIns="0" bIns="0"/>
          <a:lstStyle/>
          <a:p>
            <a:pPr algn="l" lvl="0">
              <a:lnSpc>
                <a:spcPct val="99600"/>
              </a:lnSpc>
            </a:pPr>
            <a:r>
              <a:rPr lang="en-US" sz="2286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 과정의 맥락을
사람이 이어야 합니다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Pain Points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공개 제작 사례에 근거한 문제 가설 · 고객 인터뷰 전
출처: 에덴월드 박디라 인터뷰(2026.09.17)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529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음원·IP 설정과 참고 자료를
모으고 제작 의도를 전달합니다.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준비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178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기획·생성·편집 사이에서
파일과 설정을 옮깁니다.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656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수정 이유와 승인 버전을 찾아
다음 제작에 재사용합니다.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왜 VTuber와
소규모팀인가요?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Target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초기 타깃 가설 · 구매 의향 검증 전
출처: 에덴월드·스텔라이브·밍글스튜디오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529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같은 IP로 커버곡과
오리지널곡을 잇는 공개 사례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 제작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178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운영자가
음원·외주·참고·MV·피드백을 연결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운영 조율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656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 곡의 완주와 다음
곡의 맥락 재사용을 확인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 곡 검증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975600" y="457200"/>
            <a:ext cx="23241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현재 구현과 개발 목표의 사용자
흐름 · 영상 모델 실제 호출 검증 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복잡한 제작을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하나의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작업대로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Workflow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What creators do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37900" y="36322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캐릭터·설정·자료·권리 정보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02600" y="35941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IP·음원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37900" y="49784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대화형 AI로 장면 계획과 도구 제안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02600" y="49403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기획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37900" y="63246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영상 모델과 Take 비교·타임라인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생성·편집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3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37900" y="76708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사람이 결과를 선택·승인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02600" y="76327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검토·출력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12900"/>
            <a:ext cx="66294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장면과 Take를
한 화면에서 검토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Product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0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2026.10.26 실제 내부 시험 화면 ·
합성 시험 미디어 · AI 생성 결과 아님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898900" y="3416300"/>
            <a:ext cx="10490200" cy="591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프로토타입 개발과
제한 시험 단계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Progress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저장소·QA 기록(2026.10.27) ·
발표자료 제작 중 시험 재실행 아님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529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IP·음원·샷·Take,
편집·승인·FFmpeg 출력과 복구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178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합성 음원·로컬 모션 3초 MP4,
별도 브라우저 2초 편집 출력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제한 시험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656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 인터뷰·시험 고객·매출
없음; 영상 모델 실호출 미완료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시장 관심을
외부 지표로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Market 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62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출처: YouTube·KOCCA·밍글스튜디오(2026.10.28 확인)
외부 지표는 Aethon TAM이나 자사 실적이 아님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529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2024년 글로벌 버추얼 크리에이터 300개 표본의 영상·라이브·Shorts 조회 합계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3606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150억 회+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178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2025년 국내 대중음악산업
매출의 전년 대비 증가율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51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15.8%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656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프리미엄 MV 200만~400만 원 · VAT
별도 · 범위별 변동 · 시장 평균 아님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견적 사례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7543800"/>
            <a:ext cx="8661400" cy="1193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556000" y="7835900"/>
            <a:ext cx="6070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직접 접촉과 사용 시험으로 확인할 초기 유료 고객군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22600" y="8089900"/>
            <a:ext cx="762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98800" y="8089900"/>
            <a:ext cx="76200" cy="7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187700" y="8089900"/>
            <a:ext cx="76200" cy="76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76400" y="7734300"/>
            <a:ext cx="9017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SOM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0" y="1612900"/>
            <a:ext cx="75184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도달할 고객의
범위를 좁힙니다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534400" y="2654300"/>
            <a:ext cx="6350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585200" y="2692400"/>
            <a:ext cx="558800" cy="55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Market Scope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0" y="3746500"/>
            <a:ext cx="5448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고객 수 × 연간 제작 빈도 × 제작
1회당 도구 지출 · 금액 미산정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68400" y="4800600"/>
            <a:ext cx="8661400" cy="1193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556000" y="5092700"/>
            <a:ext cx="5041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IP 기반 음악영상 제작 소프트웨어 수요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524000" y="5448300"/>
            <a:ext cx="1206500" cy="330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574800" y="5448300"/>
            <a:ext cx="11049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2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 범위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22600" y="5359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98800" y="53594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187700" y="5359400"/>
            <a:ext cx="76200" cy="76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676400" y="4991100"/>
            <a:ext cx="9017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TAM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68400" y="6172200"/>
            <a:ext cx="8661400" cy="11938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3556000" y="6464300"/>
            <a:ext cx="56642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한국어로 접근 가능한 개인 VTuber·소규모 버추얼팀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22600" y="6731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98800" y="6731000"/>
            <a:ext cx="76200" cy="76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187700" y="6731000"/>
            <a:ext cx="76200" cy="762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676400" y="6362700"/>
            <a:ext cx="9017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SAM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8400" y="8877300"/>
            <a:ext cx="26670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4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원 면적은 금액 비율이 아닙니다.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524000" y="6819900"/>
            <a:ext cx="1206500" cy="3302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574800" y="6819900"/>
            <a:ext cx="11049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2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접근 범위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524000" y="8166100"/>
            <a:ext cx="1206500" cy="3302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574800" y="8166100"/>
            <a:ext cx="11049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2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초기 고객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4">
            <a:alphaModFix amt="2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-5400000">
            <a:off x="11150600" y="-368300"/>
            <a:ext cx="11125200" cy="11125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-5400000">
            <a:off x="13068300" y="1536700"/>
            <a:ext cx="7302500" cy="7302500"/>
          </a:xfrm>
          <a:prstGeom prst="rect">
            <a:avLst/>
          </a:prstGeom>
          <a:effectLst>
            <a:outerShdw dir="10800000" dist="56198" blurRad="438341">
              <a:srgbClr val="97B3B6">
                <a:alpha val="18000"/>
              </a:srgbClr>
            </a:outerShdw>
          </a:effectLst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-5400000">
            <a:off x="14871700" y="3340100"/>
            <a:ext cx="3695700" cy="3695700"/>
          </a:xfrm>
          <a:prstGeom prst="rect">
            <a:avLst/>
          </a:prstGeom>
          <a:effectLst>
            <a:outerShdw dir="10800000" dist="85285" blurRad="554355">
              <a:srgbClr val="578C93">
                <a:alpha val="14000"/>
              </a:srgbClr>
            </a:outerShdw>
          </a:effectLst>
        </p:spPr>
      </p:pic>
      <p:sp>
        <p:nvSpPr>
          <p:cNvPr name="TextBox 43" id="43"/>
          <p:cNvSpPr txBox="true"/>
          <p:nvPr/>
        </p:nvSpPr>
        <p:spPr>
          <a:xfrm rot="0">
            <a:off x="16116300" y="5410200"/>
            <a:ext cx="1206500" cy="520700"/>
          </a:xfrm>
          <a:prstGeom prst="rect">
            <a:avLst/>
          </a:prstGeom>
        </p:spPr>
        <p:txBody>
          <a:bodyPr anchor="t" rtlCol="false" lIns="0" tIns="27522" rIns="0" bIns="0"/>
          <a:lstStyle/>
          <a:p>
            <a:pPr algn="ctr" lvl="0">
              <a:lnSpc>
                <a:spcPct val="99600"/>
              </a:lnSpc>
            </a:pPr>
            <a:r>
              <a:rPr lang="en-US" sz="2167" b="false" i="false" u="none" strike="noStrike">
                <a:solidFill>
                  <a:srgbClr val="000000">
                    <a:alpha val="14118"/>
                  </a:srgbClr>
                </a:solidFill>
                <a:latin typeface="LINE Seed Sans TH Regular"/>
                <a:ea typeface="LINE Seed Sans TH Regular"/>
                <a:cs typeface="LINE Seed Sans TH Regular"/>
              </a:rPr>
              <a:t>Scope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36600" y="5410200"/>
            <a:ext cx="1206500" cy="520700"/>
          </a:xfrm>
          <a:prstGeom prst="rect">
            <a:avLst/>
          </a:prstGeom>
        </p:spPr>
        <p:txBody>
          <a:bodyPr anchor="t" rtlCol="false" lIns="0" tIns="27522" rIns="0" bIns="0"/>
          <a:lstStyle/>
          <a:p>
            <a:pPr algn="ctr" lvl="0">
              <a:lnSpc>
                <a:spcPct val="99600"/>
              </a:lnSpc>
            </a:pPr>
            <a:r>
              <a:rPr lang="en-US" sz="2167" b="false" i="false" u="none" strike="noStrike">
                <a:solidFill>
                  <a:srgbClr val="000000">
                    <a:alpha val="14118"/>
                  </a:srgbClr>
                </a:solidFill>
                <a:latin typeface="LINE Seed Sans TH Regular"/>
                <a:ea typeface="LINE Seed Sans TH Regular"/>
                <a:cs typeface="LINE Seed Sans TH Regular"/>
              </a:rPr>
              <a:t>Scope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69700" y="5410200"/>
            <a:ext cx="1206500" cy="520700"/>
          </a:xfrm>
          <a:prstGeom prst="rect">
            <a:avLst/>
          </a:prstGeom>
        </p:spPr>
        <p:txBody>
          <a:bodyPr anchor="t" rtlCol="false" lIns="0" tIns="27522" rIns="0" bIns="0"/>
          <a:lstStyle/>
          <a:p>
            <a:pPr algn="ctr" lvl="0">
              <a:lnSpc>
                <a:spcPct val="99600"/>
              </a:lnSpc>
            </a:pPr>
            <a:r>
              <a:rPr lang="en-US" sz="2167" b="false" i="false" u="none" strike="noStrike">
                <a:solidFill>
                  <a:srgbClr val="000000">
                    <a:alpha val="14118"/>
                  </a:srgbClr>
                </a:solidFill>
                <a:latin typeface="LINE Seed Sans TH Regular"/>
                <a:ea typeface="LINE Seed Sans TH Regular"/>
                <a:cs typeface="LINE Seed Sans TH Regular"/>
              </a:rPr>
              <a:t>Scope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697200" y="4610100"/>
            <a:ext cx="2057400" cy="850900"/>
          </a:xfrm>
          <a:prstGeom prst="rect">
            <a:avLst/>
          </a:prstGeom>
        </p:spPr>
        <p:txBody>
          <a:bodyPr anchor="t" rtlCol="false" lIns="0" tIns="20542" rIns="0" bIns="0"/>
          <a:lstStyle/>
          <a:p>
            <a:pPr algn="ctr" lvl="0">
              <a:lnSpc>
                <a:spcPct val="110390"/>
              </a:lnSpc>
            </a:pPr>
            <a:r>
              <a:rPr lang="en-US" sz="4621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SOM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119100" y="4737100"/>
            <a:ext cx="1803400" cy="596900"/>
          </a:xfrm>
          <a:prstGeom prst="rect">
            <a:avLst/>
          </a:prstGeom>
        </p:spPr>
        <p:txBody>
          <a:bodyPr anchor="t" rtlCol="false" lIns="0" tIns="14055" rIns="0" bIns="0"/>
          <a:lstStyle/>
          <a:p>
            <a:pPr algn="ctr" lvl="0">
              <a:lnSpc>
                <a:spcPct val="110390"/>
              </a:lnSpc>
            </a:pPr>
            <a:r>
              <a:rPr lang="en-US" sz="3161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SAM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06200" y="4749800"/>
            <a:ext cx="1320800" cy="546100"/>
          </a:xfrm>
          <a:prstGeom prst="rect">
            <a:avLst/>
          </a:prstGeom>
        </p:spPr>
        <p:txBody>
          <a:bodyPr anchor="t" rtlCol="false" lIns="0" tIns="12974" rIns="0" bIns="0"/>
          <a:lstStyle/>
          <a:p>
            <a:pPr algn="ctr" lvl="0">
              <a:lnSpc>
                <a:spcPct val="110390"/>
              </a:lnSpc>
            </a:pPr>
            <a:r>
              <a:rPr lang="en-US" sz="2918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Alternatives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3657600"/>
            <a:ext cx="57531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제공 방식 기준 비교 · Aethon의
품질·가격·시간 우위는 미검증</a:t>
            </a:r>
          </a:p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68400" y="26543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" y="2692400"/>
            <a:ext cx="558800" cy="558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68400" y="1612900"/>
            <a:ext cx="8750300" cy="9525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대안별 작업 방식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8400" y="4610100"/>
          <a:ext cx="15887700" cy="3644900"/>
        </p:xfrm>
        <a:graphic>
          <a:graphicData uri="http://schemas.openxmlformats.org/drawingml/2006/table">
            <a:tbl>
              <a:tblPr/>
              <a:tblGrid>
                <a:gridCol w="2199814"/>
                <a:gridCol w="4379165"/>
                <a:gridCol w="4512177"/>
                <a:gridCol w="4767969"/>
              </a:tblGrid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비교 기준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개별 도구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전문 외주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Aethon 목표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</a:tr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기획·제작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사용자 도구 조합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계약 범위 수행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IP·음원·장면 연결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선택·수정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파일·프롬프트 관리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참고·검수 의견 전달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Take·수정·승인 관리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다음 제작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자료·설정 재연결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새 의뢰·범위 협의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같은 IP 맥락 재사용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680700" y="2032000"/>
            <a:ext cx="3365500" cy="661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680700" y="2400300"/>
            <a:ext cx="3365500" cy="6235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975600" y="457200"/>
            <a:ext cx="23241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Business Model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7048500" y="2400300"/>
            <a:ext cx="3365500" cy="6235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429500" y="5029200"/>
            <a:ext cx="273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프로젝트·IP·버전·승인
기록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8400" y="3035300"/>
            <a:ext cx="54991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구독과 사용량
과금 가설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8400" y="6121400"/>
            <a:ext cx="53848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같은 기간 승인본당 비용 = (생성·재시도
+ 처리 + 저장·전송 + 지원) ÷ 승인본 수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168400" y="51181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219200" y="5156200"/>
            <a:ext cx="5588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13600" y="4241800"/>
            <a:ext cx="3022600" cy="596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366000" y="4241800"/>
            <a:ext cx="27305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작업대 구독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1074400" y="5029200"/>
            <a:ext cx="273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모델 호출과 영상
처리량의 비용 반영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858500" y="4241800"/>
            <a:ext cx="3022600" cy="596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0998200" y="4241800"/>
            <a:ext cx="27305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 사용량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4300200" y="2400300"/>
            <a:ext cx="3365500" cy="6235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4681200" y="5029200"/>
            <a:ext cx="273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사용과 지불 의향
확인 후 가격 확정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4465300" y="4241800"/>
            <a:ext cx="3022600" cy="596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605000" y="4241800"/>
            <a:ext cx="27305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후 결정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8102600" y="27559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382000" y="2933700"/>
            <a:ext cx="711200" cy="825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5354300" y="27559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5608300" y="2984500"/>
            <a:ext cx="736600" cy="736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1747500" y="27813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1976100" y="2971800"/>
            <a:ext cx="787400" cy="7874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1087100" y="2070100"/>
            <a:ext cx="2628900" cy="355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ct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FFFFFF"/>
                </a:solidFill>
                <a:latin typeface="LINE Seed Sans TH Bold"/>
                <a:ea typeface="LINE Seed Sans TH Bold"/>
                <a:cs typeface="LINE Seed Sans TH Bold"/>
              </a:rPr>
              <a:t>Hypothesis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12900"/>
            <a:ext cx="66294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현재와 향후
시스템 구조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0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사용자 · Aethon 플랫폼 · 외부
모델/서비스 | 위: 현재 / 아래: 향후 미구현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511300" y="3505200"/>
            <a:ext cx="15481300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12900"/>
            <a:ext cx="66294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기획 모델과 영상 모델을
각각 고도화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AI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0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향후 R&amp;D 제안 · 권리·교사 모델 조건
확인 · 자체 모델 완성 및 우위 미검증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511300" y="3505200"/>
            <a:ext cx="15532100" cy="6159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Go to Market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1612900"/>
            <a:ext cx="87503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 곡과 다음 곡의
사용을 검증합니다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0" y="1739900"/>
            <a:ext cx="49149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대표가 제작자 채널과 커뮤니티에 접근 · 미실행 계획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959600" y="27432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010400" y="2781300"/>
            <a:ext cx="5588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248400" y="4432300"/>
            <a:ext cx="762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337300" y="4432300"/>
            <a:ext cx="76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413500" y="4432300"/>
            <a:ext cx="76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248400" y="7061200"/>
            <a:ext cx="762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337300" y="7061200"/>
            <a:ext cx="762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413500" y="7061200"/>
            <a:ext cx="76200" cy="76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206500" y="5245100"/>
            <a:ext cx="4889500" cy="370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06500" y="3860800"/>
            <a:ext cx="48895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27300" y="4051300"/>
            <a:ext cx="22225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Interview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100" y="4508500"/>
            <a:ext cx="4406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최근 제작물·의뢰·수정 기록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574800" y="7086600"/>
            <a:ext cx="41402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816100" y="6197600"/>
            <a:ext cx="3657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반복되는 마찰을 확인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5588000"/>
            <a:ext cx="1016000" cy="444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187700" y="56515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3500" y="8001000"/>
            <a:ext cx="463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개인 VTuber·버추얼팀 인터뷰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7391400"/>
            <a:ext cx="1016000" cy="444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098800" y="73914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6692900" y="5219700"/>
            <a:ext cx="4889500" cy="3708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6692900" y="3848100"/>
            <a:ext cx="4889500" cy="1155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026400" y="4038600"/>
            <a:ext cx="22225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Usage Test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34200" y="4483100"/>
            <a:ext cx="4406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 곡을 기획부터 출력까지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7061200" y="7061200"/>
            <a:ext cx="4140200" cy="254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302500" y="6172200"/>
            <a:ext cx="3657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완주 여부와 수정 이유 확인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623300" y="5562600"/>
            <a:ext cx="1016000" cy="4445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674100" y="56261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19900" y="7988300"/>
            <a:ext cx="463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작업 과정과 승인본 비용 관찰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623300" y="7366000"/>
            <a:ext cx="1016000" cy="444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979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760200" y="4432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836400" y="4432300"/>
            <a:ext cx="762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925300" y="4432300"/>
            <a:ext cx="76200" cy="76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760200" y="7061200"/>
            <a:ext cx="76200" cy="76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836400" y="70612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925300" y="70612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2204700" y="5219700"/>
            <a:ext cx="4889500" cy="370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2204700" y="3848100"/>
            <a:ext cx="4889500" cy="1155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538200" y="4038600"/>
            <a:ext cx="22225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Repeat Use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300" y="4483100"/>
            <a:ext cx="4406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 곡의 정보 재사용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2573000" y="7061200"/>
            <a:ext cx="4140200" cy="254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814300" y="6172200"/>
            <a:ext cx="3657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사용과 지불 의향 확인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4135100" y="5562600"/>
            <a:ext cx="1016000" cy="444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185900" y="56261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31700" y="7988300"/>
            <a:ext cx="463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결제 및 지원 비용을 검증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4135100" y="7366000"/>
            <a:ext cx="1016000" cy="4445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40970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Roadmap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1612900"/>
            <a:ext cx="87503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결과에 따라
제품과 팀을 확장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0" y="1739900"/>
            <a:ext cx="490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단계별 진입 조건 · 일정·채용·예산 미확정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959600" y="27432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010400" y="2781300"/>
            <a:ext cx="5588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248400" y="4432300"/>
            <a:ext cx="762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337300" y="4432300"/>
            <a:ext cx="76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413500" y="4432300"/>
            <a:ext cx="76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248400" y="7061200"/>
            <a:ext cx="762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337300" y="7061200"/>
            <a:ext cx="762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413500" y="7061200"/>
            <a:ext cx="76200" cy="76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206500" y="5245100"/>
            <a:ext cx="4889500" cy="370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06500" y="3860800"/>
            <a:ext cx="48895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27300" y="4051300"/>
            <a:ext cx="22225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Validate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100" y="4508500"/>
            <a:ext cx="4406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 흐름 완성 → 제작자 검증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574800" y="7086600"/>
            <a:ext cx="41402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816100" y="6197600"/>
            <a:ext cx="3657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연결·출력·복구와 실제 작업 완주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5588000"/>
            <a:ext cx="1016000" cy="444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098800" y="5588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3500" y="8001000"/>
            <a:ext cx="463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제작자 결과 채택 이유와 병목 확인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7391400"/>
            <a:ext cx="1016000" cy="444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098800" y="73914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6692900" y="5219700"/>
            <a:ext cx="4889500" cy="3708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6692900" y="3848100"/>
            <a:ext cx="4889500" cy="1155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026400" y="4038600"/>
            <a:ext cx="22225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Paid Use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34200" y="4483100"/>
            <a:ext cx="4406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반복 사용과 결제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7061200" y="7061200"/>
            <a:ext cx="4140200" cy="254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302500" y="6172200"/>
            <a:ext cx="3657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다음 곡의 재사용 가치 확인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623300" y="5562600"/>
            <a:ext cx="1016000" cy="4445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597900" y="55626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19900" y="7988300"/>
            <a:ext cx="463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지원·재시도를 포함해 원가 측정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623300" y="7366000"/>
            <a:ext cx="1016000" cy="444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979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760200" y="4432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836400" y="4432300"/>
            <a:ext cx="762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925300" y="4432300"/>
            <a:ext cx="76200" cy="76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760200" y="7061200"/>
            <a:ext cx="76200" cy="76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836400" y="70612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925300" y="70612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2204700" y="5219700"/>
            <a:ext cx="4889500" cy="370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2204700" y="3848100"/>
            <a:ext cx="4889500" cy="1155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538200" y="4038600"/>
            <a:ext cx="22225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Expand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300" y="4483100"/>
            <a:ext cx="4406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권리 데이터와 평가셋 확보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12573000" y="7061200"/>
            <a:ext cx="4140200" cy="254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814300" y="6172200"/>
            <a:ext cx="3657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기준 모델 대비 품질·비용 검증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4135100" y="5562600"/>
            <a:ext cx="1016000" cy="444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097000" y="55626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31700" y="7988300"/>
            <a:ext cx="46355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5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검증된 경우 모델 특화와 시장 확장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4135100" y="7366000"/>
            <a:ext cx="1016000" cy="4445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40970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Founder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0" y="2476500"/>
            <a:ext cx="64262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데이터와 제품을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연결하는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1인 창업팀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0" y="6438900"/>
            <a:ext cx="61087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현재 대표 1인: 제품 방향·개발·초기 고객
검증 총괄. 학력·경력은 본인 제공 정보.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320800" y="8229600"/>
            <a:ext cx="1320800" cy="44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84300" y="8229600"/>
            <a:ext cx="11811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DATA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2933700" y="8229600"/>
            <a:ext cx="17018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997200" y="8229600"/>
            <a:ext cx="15621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PRODUCT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4737100" y="8216900"/>
            <a:ext cx="1689100" cy="444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800600" y="8216900"/>
            <a:ext cx="15494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VALIDATE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2578100"/>
            <a:ext cx="8216900" cy="2692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938000" y="2971800"/>
            <a:ext cx="22225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Profile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00" y="3797300"/>
            <a:ext cx="654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이성민 · RealizeSoft 대표
경복대학교 소프트웨어융합학과
데이터엔지니어 · 한화 포탈 데이터 엔지니어링 경험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35306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35306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35306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5664200"/>
            <a:ext cx="8216900" cy="2692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938000" y="6045200"/>
            <a:ext cx="22225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Awards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9000" y="6235700"/>
            <a:ext cx="6540500" cy="231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2026 U300 Academy 대상 / 한국연구재단 이사장상
경기북동부 청년창업챌린지 IR 데모데이 기술상 / 경기도경제과학진흥원장상
경복대학교 보도 · RealizeSoft 팀 이력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66040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6604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66040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 제작자의
반복 사용을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Next Step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필요한 연결: 초기 제작자 · 영상 실무 피드백 · 사업화/기술 멘토링
지원·투자 요청 금액 미확정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529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모델 연결·출력·복구의 전체 흐름 검증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제품 완결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178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제작자 인터뷰·작업 관찰·품질 평가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 검증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656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생성 청구·재시도·저장·지원 비용 기록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12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비용 검증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12900"/>
            <a:ext cx="66294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부록: 비동기 영상
완료 조건 관리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Async Detail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02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향후 도입 검토 · 업로드 알림과
완료 판정 분리 · 검증 후 합성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511300" y="3505200"/>
            <a:ext cx="15532100" cy="6159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Team Plan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국가공인 네트워크관리사 2급 보유. AI프러덕션
기획자 1급·Databricks Professional은 본인
제공 표기; 공식 표기 확인 전. 채용 확정 아님.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 대표 1인,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단계에 맞춰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역량을 보강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Roles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Capabilities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37900" y="36322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데이터·제품 개발·고객 검증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02600" y="35941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대표 역량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7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7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37900" y="49784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 품질과 실제 사용자 평가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02600" y="49403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영상·UX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7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7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37900" y="63246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사용·유료 전환·운영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고객·사업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7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7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37900" y="7670800"/>
            <a:ext cx="57277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권리 데이터·평가·모델 특화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02600" y="76327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ML·MLOps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7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7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References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0" y="2476500"/>
            <a:ext cx="64262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숫자와 주장,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구현 상태의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0" y="6438900"/>
            <a:ext cx="61087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외부 통계는 자사 실적이 아닙니다.
시장금액과 가격은 미산정·미확정입니다.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206500" y="8229600"/>
            <a:ext cx="1549400" cy="44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70000" y="8229600"/>
            <a:ext cx="14097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SOURCE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3162300" y="8229600"/>
            <a:ext cx="12192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238500" y="8229600"/>
            <a:ext cx="10922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TEST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4953000" y="8216900"/>
            <a:ext cx="1244600" cy="444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5016500" y="8216900"/>
            <a:ext cx="11176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PLAN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2578100"/>
            <a:ext cx="8216900" cy="2692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938000" y="2971800"/>
            <a:ext cx="22225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Market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00" y="3797300"/>
            <a:ext cx="654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YouTube Culture &amp; Trends: 2024 표본
KOCCA: 2025 대중음악 매출
밍글스튜디오: 예상 견적·VAT 별도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35306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35306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35306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5664200"/>
            <a:ext cx="8216900" cy="2692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938000" y="6045200"/>
            <a:ext cx="22225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Evidence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9000" y="6870700"/>
            <a:ext cx="654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에덴월드·스텔라이브 공개 사례
Aethon 저장소·QA(2026.10.27)
경복대학교 RealizeSoft 수상 보도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66040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6604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66040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